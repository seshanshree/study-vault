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77" r:id="rId38"/>
    <p:sldId id="296" r:id="rId39"/>
    <p:sldId id="297" r:id="rId40"/>
    <p:sldId id="298" r:id="rId41"/>
    <p:sldId id="299" r:id="rId42"/>
    <p:sldId id="300" r:id="rId43"/>
    <p:sldId id="279" r:id="rId44"/>
    <p:sldId id="302" r:id="rId45"/>
    <p:sldId id="303" r:id="rId46"/>
    <p:sldId id="341" r:id="rId47"/>
    <p:sldId id="304" r:id="rId48"/>
    <p:sldId id="305" r:id="rId49"/>
    <p:sldId id="306" r:id="rId50"/>
    <p:sldId id="307" r:id="rId51"/>
    <p:sldId id="308" r:id="rId52"/>
    <p:sldId id="309" r:id="rId53"/>
    <p:sldId id="295" r:id="rId54"/>
    <p:sldId id="310" r:id="rId55"/>
    <p:sldId id="311" r:id="rId56"/>
    <p:sldId id="312" r:id="rId57"/>
    <p:sldId id="326" r:id="rId58"/>
    <p:sldId id="327" r:id="rId59"/>
    <p:sldId id="328" r:id="rId60"/>
    <p:sldId id="330" r:id="rId61"/>
    <p:sldId id="331" r:id="rId62"/>
    <p:sldId id="332" r:id="rId63"/>
    <p:sldId id="333" r:id="rId64"/>
    <p:sldId id="334" r:id="rId65"/>
    <p:sldId id="335" r:id="rId66"/>
    <p:sldId id="336" r:id="rId67"/>
    <p:sldId id="337" r:id="rId68"/>
    <p:sldId id="314" r:id="rId69"/>
    <p:sldId id="315" r:id="rId70"/>
    <p:sldId id="338" r:id="rId71"/>
    <p:sldId id="339" r:id="rId72"/>
    <p:sldId id="340" r:id="rId73"/>
    <p:sldId id="318" r:id="rId74"/>
    <p:sldId id="319" r:id="rId75"/>
    <p:sldId id="320" r:id="rId76"/>
    <p:sldId id="321" r:id="rId77"/>
    <p:sldId id="322" r:id="rId78"/>
    <p:sldId id="323" r:id="rId79"/>
    <p:sldId id="324" r:id="rId80"/>
    <p:sldId id="352" r:id="rId81"/>
    <p:sldId id="354" r:id="rId82"/>
    <p:sldId id="373" r:id="rId83"/>
    <p:sldId id="374" r:id="rId84"/>
    <p:sldId id="358" r:id="rId85"/>
    <p:sldId id="375" r:id="rId86"/>
    <p:sldId id="376" r:id="rId87"/>
    <p:sldId id="377" r:id="rId88"/>
    <p:sldId id="378" r:id="rId89"/>
    <p:sldId id="379" r:id="rId90"/>
    <p:sldId id="380" r:id="rId91"/>
    <p:sldId id="359" r:id="rId92"/>
    <p:sldId id="362" r:id="rId93"/>
    <p:sldId id="363" r:id="rId94"/>
    <p:sldId id="381" r:id="rId95"/>
    <p:sldId id="364" r:id="rId96"/>
    <p:sldId id="365" r:id="rId97"/>
    <p:sldId id="366" r:id="rId98"/>
    <p:sldId id="367" r:id="rId99"/>
    <p:sldId id="368" r:id="rId100"/>
    <p:sldId id="369" r:id="rId101"/>
    <p:sldId id="382" r:id="rId102"/>
    <p:sldId id="383" r:id="rId103"/>
    <p:sldId id="371" r:id="rId104"/>
    <p:sldId id="372" r:id="rId10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6FEE1-6FF2-00A7-E1BD-930CB2D21A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18DD57-EACB-A7CB-E87C-F66BC354FA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45767-7F06-AFF1-6011-A2679A423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EAA48-84BB-4B43-9B62-9D88CD675253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139FC-3AA8-4062-658A-DD06B3F02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8AA1D-76D6-991C-6920-2F7F9D340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FC7D-B6B0-4667-8200-6DBC4D811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838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28893-94FC-C721-7A26-34302BA4A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8609A-1956-3B82-626F-9B90182DD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6BD33-9ED1-6775-2479-0FED025A3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EAA48-84BB-4B43-9B62-9D88CD675253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A6D55-D72E-2FAE-547F-4213A1531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18B26-9726-5775-0B8A-B88367F92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FC7D-B6B0-4667-8200-6DBC4D811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649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76AA0-5FF3-92AA-582D-F01D100A5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F64766-8965-1757-68CB-549BF2A6E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0A7AF-5551-B1E6-2D12-0C5EA9080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EAA48-84BB-4B43-9B62-9D88CD675253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6F5CD-6623-CFC3-2CEA-A2F08D798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93C12-41C2-7220-32F0-E8415F3F2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FC7D-B6B0-4667-8200-6DBC4D811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37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F23AB-A2DA-7D37-3107-4E7A1A896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92F9C-1A04-911D-C39D-F3B0CBCD52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0E3EED-DC2A-0B69-7C7B-60BE94832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A161A6-7CE1-CD72-2301-7D9DE2776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EAA48-84BB-4B43-9B62-9D88CD675253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DB902-FE8A-FE3E-4652-66AA5A672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13345-CF5D-9341-59D4-B234CFF8D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FC7D-B6B0-4667-8200-6DBC4D811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315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D3502-379F-4087-295C-0DD9C1535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ED4EE-3D65-8522-FB9A-7D292CE4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C62D97-1784-0CAF-927F-75B1B0CC3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F30FE2-8B4E-3E53-B0DA-5C97DFF178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C63AE0-06B5-DD32-A719-5F1777FCEA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8F24B8-9290-A397-A8AF-E8625D84E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EAA48-84BB-4B43-9B62-9D88CD675253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150F0C-E832-ADF8-55A0-D09AB8CAD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85CE1F-C08A-9790-089C-3234E5F0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FC7D-B6B0-4667-8200-6DBC4D811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850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71555-78F9-CDE6-DB74-52E78658D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542FC9-B9AE-31E6-9A71-31250C45E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EAA48-84BB-4B43-9B62-9D88CD675253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62B377-3D70-BC08-299C-1E94F3530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BCEACD-25F8-EDF5-115C-0F31F5DFC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FC7D-B6B0-4667-8200-6DBC4D811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770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DBF85B-EA35-8F33-26CD-677633B53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EAA48-84BB-4B43-9B62-9D88CD675253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23F5D4-3B84-8A9D-A4E8-7C41AC8B3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63B1D-0550-0609-FC59-14854E098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FC7D-B6B0-4667-8200-6DBC4D811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60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617DD-5C7E-11FA-6065-D250B448D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B1F35-5F7D-58C3-9255-E1B078A96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168E65-BF53-AE48-752B-ABA7B18BC1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38AF41-9710-2AF3-69B2-2D7BCB9C2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EAA48-84BB-4B43-9B62-9D88CD675253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D7EDED-7D61-438F-9265-A0362E728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2D5974-28C4-C352-A25D-5318A1CC7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FC7D-B6B0-4667-8200-6DBC4D811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132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BC994-D349-57F4-0B38-7320D7FEF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05F7FE-AC4C-DCB4-1A36-F084EE8AC9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57858E-3245-9D76-4190-D1176CD74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D14F15-0EB7-A19F-144E-D482E8D42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EAA48-84BB-4B43-9B62-9D88CD675253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26ED9F-C89A-5546-3308-6AB11A137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6E80B-3E78-7C3F-F060-FDED264F0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FC7D-B6B0-4667-8200-6DBC4D811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425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15A6B-F6C8-9247-A879-6CAB9E6E7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A1D56-D644-9B47-4A21-478DFF9EF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8BD86-610E-BFF9-5C46-B43C12377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EAA48-84BB-4B43-9B62-9D88CD675253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A7A2B-81D1-4887-BC29-779584BAD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CD42B-8324-F924-7363-1A7BFA71A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FC7D-B6B0-4667-8200-6DBC4D811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757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AD9F41-F86E-32D9-F829-0B3E3C1FBA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F68B8B-96B5-7364-158C-57E45BE89D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10F57-C05E-03FB-4176-FDF8FA97B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EAA48-84BB-4B43-9B62-9D88CD675253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37128-28BD-ACF6-9286-370E4311E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6CFB6-1C6C-69D5-4E2A-42F270EC0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FC7D-B6B0-4667-8200-6DBC4D811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36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F0F065-7624-19E5-926D-B5276D345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D742B-2495-3858-A380-C701D255E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ED5BC-16FA-B43A-09BE-BB23E27053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EAA48-84BB-4B43-9B62-9D88CD675253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9FBC4-9656-906D-C02F-659DB6E38C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B3E4E-38A7-B481-2803-90CB5DC4DF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56FC7D-B6B0-4667-8200-6DBC4D811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416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8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e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e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eg"/><Relationship Id="rId2" Type="http://schemas.openxmlformats.org/officeDocument/2006/relationships/image" Target="../media/image98.jpeg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jpeg"/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4E3F4-487E-417C-EBFF-A41039344E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Unit 2</a:t>
            </a:r>
            <a:br>
              <a:rPr lang="en-IN" dirty="0"/>
            </a:br>
            <a:r>
              <a:rPr lang="en-IN" dirty="0"/>
              <a:t>Cellular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AE9D26-78CF-75B6-FD5D-8882CAF041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err="1"/>
              <a:t>Dr.M.Manimegalai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6228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2ED2F-F1D5-93BB-BC22-74467270E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5B424-87E4-C302-8525-4230801E8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23A8CA-57D0-9402-EAEB-38117AFDA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8826" y="-75826"/>
            <a:ext cx="12260826" cy="7049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000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7AE8F-4FB6-DDB7-C05E-47D644F5A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F4D8D-37C5-2618-32C1-0F37022FA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3AAC11-F988-56F1-6F43-4FEB80B0A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62184" cy="6818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792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EE764-0019-661E-C09F-1F9B01C0D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6015C-BAD4-2000-ACA5-451B4B30D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6C0E23-9985-2ED1-7790-BDAC64C41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936" y="0"/>
            <a:ext cx="122189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006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7F214-EC97-F9B8-65CD-8522658AD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DA2EB-47DC-8963-6057-E64F4B3B3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8783B1-D0E1-3F3C-9994-2802471DD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"/>
            <a:ext cx="12192000" cy="682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201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9A8A6-928C-29D2-F6BD-D5144AC6A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86200-764E-3AE6-6C55-B80D1F46B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D35725-87CB-5B75-F22D-973BA3768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28" y="0"/>
            <a:ext cx="119571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108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98CA-1C65-47A1-AE99-9942B1822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1E199-1C2D-BD33-E9EC-DC96E545B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EEB6CF-4995-0810-661F-B3E98A7BB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0548"/>
            <a:ext cx="12192000" cy="689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477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B9F25-3A6F-094F-F6F5-8B29B6348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EFE4B-2CBC-4DCF-8D98-EB31A38CF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466055-32AF-20D8-2A90-B4168D32C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32" y="1"/>
            <a:ext cx="12213470" cy="703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973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DED0E-C729-8534-29BC-9A4DE5BA6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FAEF1-C7C6-5E65-5B10-8BB0C9241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118C99-741B-E666-6C81-004B97BEA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2192000" cy="692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119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BC3C2-15D6-AE05-CD65-810D1982C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2E837-36C8-93B3-772E-79BEDE2F2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EE8086-605D-2AB5-E844-8ECF72E1E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099"/>
            <a:ext cx="12192000" cy="6922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880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ABE68-3EE7-2B3D-AAD0-F1E039189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E24BD-40EA-FEA6-251E-CA7C9FB21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BD7247-B8FE-B0DB-23AC-4478B90D1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5350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792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2D1F1-2EDC-CFDE-CA3E-B227C3578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4EC2A-3A5B-6981-5412-68AAF6579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BCFF7C-0BB2-CDFE-CE65-BC22B7D8A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718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340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179FF-5967-A531-CD6A-AD25C1DCF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267D9-672C-FBDC-239A-B4EF2BE61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8DE2A1-C857-1333-E2F0-7216C34A2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" y="0"/>
            <a:ext cx="121916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12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35A71-23A0-10DD-4AEE-68567F588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358AF-6086-348D-74C1-B91E4B0A3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71B7A1-B687-4472-ACF4-8B901513A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75227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055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86801-4913-47C1-2E38-33E4DF8E4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4FD55-AA5E-AF97-FA13-07607AB95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70884E-BE88-96D0-7879-C556EE094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361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94E42-1524-9060-1961-E324EA4A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1E9EF-B782-75B9-64C9-8EF213A19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088FA7-CD81-0D2E-AD4D-45BF846F5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679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BF7C3-8948-2576-F455-8182C039E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4B3E3-DC53-E937-28FE-24F8F53E6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FA9F0C-D39F-4206-FD33-70B4283E5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5" y="39328"/>
            <a:ext cx="12181806" cy="675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993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B1F50-5BEA-D19D-3CCA-7E3A106C9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100B5-636A-8080-D6E4-D9BEBC8CA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31B3A7-BAFD-F35A-7C55-4D717033A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8" y="9832"/>
            <a:ext cx="12038781" cy="680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4517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C3C29-ACD4-9DD9-800B-DDB3FA572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39A62-AC7B-CDB6-4187-A7486F70A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39B7F7-3D8C-C1F4-9351-9326F9078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" y="39329"/>
            <a:ext cx="12168749" cy="677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6952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5C63D-C499-66DD-A6C1-FDF7A9FA8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D659-10BF-C17E-FBF3-466F14A81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165304-BB66-ED7A-E239-9FDD4FC30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3578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B9346-089D-A3D2-4D70-630CC5A38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2E786-BCBF-DB46-B8DE-15E74C46F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A67C13-78EA-98C7-4E09-FBC245756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65"/>
            <a:ext cx="12192000" cy="6788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1685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296A0-4BBB-596B-3DAD-B47D348CF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43086"/>
            <a:ext cx="10515600" cy="1325563"/>
          </a:xfrm>
        </p:spPr>
        <p:txBody>
          <a:bodyPr/>
          <a:lstStyle/>
          <a:p>
            <a:pPr algn="ctr"/>
            <a:r>
              <a:rPr lang="en-IN" b="1" dirty="0"/>
              <a:t>Cellular concept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06422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2" y="-9525"/>
            <a:ext cx="12153898" cy="687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6413" y="642918"/>
            <a:ext cx="10746658" cy="192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8929" y="2428868"/>
            <a:ext cx="10815484" cy="4182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Cellular-concepts-and-system-design-fundamentals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6474" y="266064"/>
            <a:ext cx="10825316" cy="262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6474" y="2756562"/>
            <a:ext cx="10269178" cy="294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290513" y="-119063"/>
            <a:ext cx="12774613" cy="7097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6386" y="245806"/>
            <a:ext cx="11458002" cy="51422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Cellular-concepts-and-system-design-fundamentals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58" y="4571"/>
            <a:ext cx="110514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Cellular-concepts-and-system-design-fundamentals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47" y="4571"/>
            <a:ext cx="1170038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96182" y="228396"/>
            <a:ext cx="9497960" cy="6469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Cellular-concepts-and-system-design-fundamentals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571"/>
            <a:ext cx="120150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5910" y="2239"/>
            <a:ext cx="10382863" cy="6752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24101" y="1"/>
            <a:ext cx="6516687" cy="353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38415" y="3429000"/>
            <a:ext cx="6497637" cy="325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Cellular-concepts-and-system-design-fundamentals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46339" y="1843089"/>
            <a:ext cx="7297737" cy="317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Cellular-concepts-and-system-design-fundamentals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65289" y="771525"/>
            <a:ext cx="8859837" cy="531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12926" y="103189"/>
            <a:ext cx="8564563" cy="665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17689" y="690564"/>
            <a:ext cx="8555037" cy="547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19961" y="642918"/>
            <a:ext cx="9150495" cy="5715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52597" y="1142985"/>
            <a:ext cx="8212137" cy="221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81159" y="285728"/>
            <a:ext cx="8126413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22426" y="460376"/>
            <a:ext cx="8945563" cy="593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60551" y="809625"/>
            <a:ext cx="8469313" cy="523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C015AA-E5DE-EFEA-C796-E0DD35A5A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077" y="490689"/>
            <a:ext cx="10038736" cy="5876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3647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5742" y="345619"/>
            <a:ext cx="10392697" cy="5110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28919" y="973395"/>
            <a:ext cx="9816062" cy="3786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66844" y="1"/>
            <a:ext cx="8786874" cy="6825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6310" y="-22271"/>
            <a:ext cx="11602064" cy="68111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1-Cellular-concepts-and-system-design-fundamentals-4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5722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30709" y="106802"/>
            <a:ext cx="9930581" cy="6644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8090" y="203868"/>
            <a:ext cx="10009239" cy="660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1947" y="1"/>
            <a:ext cx="10854813" cy="47095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9935" y="4714884"/>
            <a:ext cx="10736825" cy="2143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8025" y="-1"/>
            <a:ext cx="9507794" cy="6916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5426" y="412956"/>
            <a:ext cx="11371942" cy="61358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4-Cellular-concepts-and-system-design-fundamentals-4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84" y="4571"/>
            <a:ext cx="1113994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8258" y="342106"/>
            <a:ext cx="11041625" cy="6173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31976" y="833439"/>
            <a:ext cx="8526463" cy="519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379" y="619432"/>
            <a:ext cx="11609485" cy="5614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6076" y="35375"/>
            <a:ext cx="10304207" cy="67690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7755" y="187958"/>
            <a:ext cx="10844980" cy="6645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0103" y="172562"/>
            <a:ext cx="10776155" cy="6361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66976" y="142852"/>
            <a:ext cx="728667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500" b="1" dirty="0">
                <a:solidFill>
                  <a:srgbClr val="C00000"/>
                </a:solidFill>
              </a:rPr>
              <a:t>Interference and system capacity</a:t>
            </a:r>
            <a:endParaRPr lang="en-US" sz="3500" b="1" dirty="0">
              <a:solidFill>
                <a:srgbClr val="C00000"/>
              </a:solidFill>
            </a:endParaRP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38348" y="857232"/>
            <a:ext cx="8001056" cy="16849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24100" y="2428869"/>
            <a:ext cx="7184128" cy="1891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309786" y="4095750"/>
            <a:ext cx="7786742" cy="276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0391" y="235974"/>
            <a:ext cx="11663119" cy="658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8-Cellular-concepts-and-system-design-fundamentals-4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5743" y="50601"/>
            <a:ext cx="10481186" cy="6732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7084" y="321686"/>
            <a:ext cx="11061289" cy="6438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4801" y="103189"/>
            <a:ext cx="9040813" cy="665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1-Cellular-concepts-and-system-design-fundamentals-5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5538" y="285729"/>
            <a:ext cx="7429552" cy="6230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2-Cellular-concepts-and-system-design-fundamentals-5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13" y="4571"/>
            <a:ext cx="110416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8258" y="168063"/>
            <a:ext cx="11130116" cy="6712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7924" y="-10941"/>
            <a:ext cx="10717160" cy="6843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27189" y="336551"/>
            <a:ext cx="8936037" cy="6183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65239" y="-27949"/>
            <a:ext cx="10451689" cy="69084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1487" y="304801"/>
            <a:ext cx="11812526" cy="6083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70089" y="303214"/>
            <a:ext cx="8250237" cy="6249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83226" y="107894"/>
            <a:ext cx="10176387" cy="6642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 vert="horz" lIns="91440" tIns="390702" rIns="91440" bIns="45720" rtlCol="0" anchor="ctr">
            <a:normAutofit/>
          </a:bodyPr>
          <a:lstStyle/>
          <a:p>
            <a:pPr marL="436245">
              <a:spcBef>
                <a:spcPts val="105"/>
              </a:spcBef>
              <a:defRPr/>
            </a:pPr>
            <a:r>
              <a:rPr sz="4000" dirty="0"/>
              <a:t>Coverage</a:t>
            </a:r>
            <a:r>
              <a:rPr sz="4000" spc="75" dirty="0"/>
              <a:t> </a:t>
            </a:r>
            <a:r>
              <a:rPr sz="4000" spc="445" dirty="0"/>
              <a:t>&amp;</a:t>
            </a:r>
            <a:r>
              <a:rPr sz="4000" spc="70" dirty="0"/>
              <a:t> </a:t>
            </a:r>
            <a:r>
              <a:rPr sz="4000" spc="50" dirty="0"/>
              <a:t>Capacity</a:t>
            </a:r>
            <a:r>
              <a:rPr sz="4000" spc="60" dirty="0"/>
              <a:t> </a:t>
            </a:r>
            <a:r>
              <a:rPr sz="4000" spc="170" dirty="0"/>
              <a:t>Improvement</a:t>
            </a:r>
            <a:endParaRPr sz="4000" dirty="0"/>
          </a:p>
        </p:txBody>
      </p:sp>
      <p:sp>
        <p:nvSpPr>
          <p:cNvPr id="63492" name="object 3"/>
          <p:cNvSpPr txBox="1">
            <a:spLocks noChangeArrowheads="1"/>
          </p:cNvSpPr>
          <p:nvPr/>
        </p:nvSpPr>
        <p:spPr bwMode="auto">
          <a:xfrm>
            <a:off x="2060576" y="1624014"/>
            <a:ext cx="8029575" cy="4731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2065" rIns="0" bIns="0">
            <a:spAutoFit/>
          </a:bodyPr>
          <a:lstStyle/>
          <a:p>
            <a:pPr marL="355600" indent="-344488">
              <a:spcBef>
                <a:spcPts val="100"/>
              </a:spcBef>
              <a:buFont typeface="Arial" pitchFamily="34" charset="0"/>
              <a:buChar char="•"/>
              <a:tabLst>
                <a:tab pos="355600" algn="l"/>
              </a:tabLst>
            </a:pPr>
            <a:r>
              <a:rPr lang="en-US" sz="3200" dirty="0">
                <a:solidFill>
                  <a:srgbClr val="000000"/>
                </a:solidFill>
                <a:latin typeface="Georgia" pitchFamily="18" charset="0"/>
              </a:rPr>
              <a:t>As the demand for wireless service increases, the no. of channels assigned to a cell is not sufficient to support the users.</a:t>
            </a:r>
          </a:p>
          <a:p>
            <a:pPr marL="355600" indent="-344488">
              <a:spcBef>
                <a:spcPts val="663"/>
              </a:spcBef>
              <a:buFont typeface="Arial" pitchFamily="34" charset="0"/>
              <a:buChar char="•"/>
              <a:tabLst>
                <a:tab pos="355600" algn="l"/>
              </a:tabLst>
            </a:pPr>
            <a:r>
              <a:rPr lang="en-US" sz="2800" i="1" dirty="0">
                <a:solidFill>
                  <a:srgbClr val="000000"/>
                </a:solidFill>
                <a:latin typeface="Georgia" pitchFamily="18" charset="0"/>
              </a:rPr>
              <a:t>To provide more channels per unit coverage area</a:t>
            </a:r>
            <a:endParaRPr lang="en-US" sz="2800" dirty="0">
              <a:solidFill>
                <a:srgbClr val="000000"/>
              </a:solidFill>
              <a:latin typeface="Georgia" pitchFamily="18" charset="0"/>
            </a:endParaRPr>
          </a:p>
          <a:p>
            <a:pPr marL="355600" indent="-344488">
              <a:spcBef>
                <a:spcPts val="675"/>
              </a:spcBef>
              <a:buFont typeface="Arial" pitchFamily="34" charset="0"/>
              <a:buChar char="•"/>
              <a:tabLst>
                <a:tab pos="355600" algn="l"/>
              </a:tabLst>
            </a:pPr>
            <a:r>
              <a:rPr lang="en-US" sz="2800" dirty="0">
                <a:solidFill>
                  <a:srgbClr val="000000"/>
                </a:solidFill>
                <a:latin typeface="Georgia" pitchFamily="18" charset="0"/>
              </a:rPr>
              <a:t>Techniques used to improve coverage and capacity</a:t>
            </a:r>
          </a:p>
          <a:p>
            <a:pPr marL="754063" lvl="1" indent="-284163">
              <a:spcBef>
                <a:spcPts val="600"/>
              </a:spcBef>
              <a:buFont typeface="Arial" pitchFamily="34" charset="0"/>
              <a:buChar char="–"/>
              <a:tabLst>
                <a:tab pos="355600" algn="l"/>
              </a:tabLst>
            </a:pPr>
            <a:r>
              <a:rPr lang="en-US" sz="2400" b="1" dirty="0">
                <a:solidFill>
                  <a:srgbClr val="FF0000"/>
                </a:solidFill>
                <a:latin typeface="Georgia" pitchFamily="18" charset="0"/>
              </a:rPr>
              <a:t>Cell Splitting</a:t>
            </a:r>
            <a:endParaRPr lang="en-US" sz="2400" dirty="0">
              <a:solidFill>
                <a:srgbClr val="000000"/>
              </a:solidFill>
              <a:latin typeface="Georgia" pitchFamily="18" charset="0"/>
            </a:endParaRPr>
          </a:p>
          <a:p>
            <a:pPr marL="754063" lvl="1" indent="-284163">
              <a:spcBef>
                <a:spcPts val="575"/>
              </a:spcBef>
              <a:buFont typeface="Arial" pitchFamily="34" charset="0"/>
              <a:buChar char="–"/>
              <a:tabLst>
                <a:tab pos="355600" algn="l"/>
              </a:tabLst>
            </a:pPr>
            <a:r>
              <a:rPr lang="en-US" sz="2400" b="1" dirty="0">
                <a:solidFill>
                  <a:srgbClr val="FF0000"/>
                </a:solidFill>
                <a:latin typeface="Georgia" pitchFamily="18" charset="0"/>
              </a:rPr>
              <a:t>Cell Sectoring</a:t>
            </a:r>
            <a:endParaRPr lang="en-US" sz="2400" dirty="0">
              <a:solidFill>
                <a:srgbClr val="000000"/>
              </a:solidFill>
              <a:latin typeface="Georgia" pitchFamily="18" charset="0"/>
            </a:endParaRPr>
          </a:p>
          <a:p>
            <a:pPr marL="754063" lvl="1" indent="-284163">
              <a:spcBef>
                <a:spcPts val="575"/>
              </a:spcBef>
              <a:buFont typeface="Arial" pitchFamily="34" charset="0"/>
              <a:buChar char="–"/>
              <a:tabLst>
                <a:tab pos="355600" algn="l"/>
              </a:tabLst>
            </a:pPr>
            <a:r>
              <a:rPr lang="en-US" sz="2400" b="1" dirty="0">
                <a:solidFill>
                  <a:srgbClr val="FF0000"/>
                </a:solidFill>
                <a:latin typeface="Georgia" pitchFamily="18" charset="0"/>
              </a:rPr>
              <a:t>Coverage Zone</a:t>
            </a:r>
            <a:endParaRPr lang="en-US" sz="2400" dirty="0">
              <a:solidFill>
                <a:srgbClr val="000000"/>
              </a:solidFill>
              <a:latin typeface="Georgia" pitchFamily="18" charset="0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105146"/>
            <a:ext cx="10515600" cy="1325563"/>
          </a:xfrm>
        </p:spPr>
        <p:txBody>
          <a:bodyPr vert="horz" lIns="91440" tIns="390702" rIns="91440" bIns="45720" rtlCol="0" anchor="ctr">
            <a:normAutofit/>
          </a:bodyPr>
          <a:lstStyle/>
          <a:p>
            <a:pPr marL="436245">
              <a:spcBef>
                <a:spcPts val="105"/>
              </a:spcBef>
              <a:defRPr/>
            </a:pPr>
            <a:r>
              <a:rPr sz="4000" spc="-145" dirty="0"/>
              <a:t>1.CELL</a:t>
            </a:r>
            <a:r>
              <a:rPr sz="4000" spc="-60" dirty="0"/>
              <a:t> </a:t>
            </a:r>
            <a:r>
              <a:rPr sz="4000" spc="-10" dirty="0"/>
              <a:t>SPLITTING</a:t>
            </a:r>
            <a:endParaRPr sz="4000" dirty="0"/>
          </a:p>
        </p:txBody>
      </p:sp>
      <p:sp>
        <p:nvSpPr>
          <p:cNvPr id="64516" name="object 3"/>
          <p:cNvSpPr txBox="1">
            <a:spLocks noChangeArrowheads="1"/>
          </p:cNvSpPr>
          <p:nvPr/>
        </p:nvSpPr>
        <p:spPr bwMode="auto">
          <a:xfrm>
            <a:off x="462116" y="1430708"/>
            <a:ext cx="11277599" cy="4766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13970" rIns="0" bIns="0">
            <a:spAutoFit/>
          </a:bodyPr>
          <a:lstStyle/>
          <a:p>
            <a:pPr marL="357188" indent="-344488" algn="just">
              <a:spcBef>
                <a:spcPts val="113"/>
              </a:spcBef>
              <a:buFont typeface="Arial" pitchFamily="34" charset="0"/>
              <a:buChar char="•"/>
              <a:tabLst>
                <a:tab pos="357188" algn="l"/>
              </a:tabLst>
            </a:pPr>
            <a:r>
              <a:rPr lang="en-US" sz="2400" dirty="0">
                <a:solidFill>
                  <a:srgbClr val="000000"/>
                </a:solidFill>
                <a:latin typeface="Georgia" pitchFamily="18" charset="0"/>
              </a:rPr>
              <a:t>Cell Splitting :</a:t>
            </a: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It is the process of subdividing the congested cell</a:t>
            </a:r>
            <a:endParaRPr lang="en-US" sz="2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57188" indent="-344488" algn="just">
              <a:tabLst>
                <a:tab pos="357188" algn="l"/>
              </a:tabLst>
            </a:pP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into smaller cells.</a:t>
            </a:r>
            <a:endParaRPr lang="en-US" sz="2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57188" indent="-344488" algn="just">
              <a:spcBef>
                <a:spcPts val="513"/>
              </a:spcBef>
              <a:buFont typeface="Arial" pitchFamily="34" charset="0"/>
              <a:buChar char="•"/>
              <a:tabLst>
                <a:tab pos="357188" algn="l"/>
              </a:tabLst>
            </a:pPr>
            <a:r>
              <a:rPr lang="en-US" sz="2400" dirty="0">
                <a:solidFill>
                  <a:srgbClr val="000000"/>
                </a:solidFill>
                <a:latin typeface="Georgia" pitchFamily="18" charset="0"/>
              </a:rPr>
              <a:t>Each of the smaller cells will have their own base station with a</a:t>
            </a:r>
          </a:p>
          <a:p>
            <a:pPr marL="357188" indent="-344488" algn="just">
              <a:tabLst>
                <a:tab pos="357188" algn="l"/>
              </a:tabLst>
            </a:pPr>
            <a:r>
              <a:rPr lang="en-US" sz="2400" dirty="0">
                <a:solidFill>
                  <a:srgbClr val="000000"/>
                </a:solidFill>
                <a:latin typeface="Georgia" pitchFamily="18" charset="0"/>
              </a:rPr>
              <a:t>reduction in antenna height and transmitted power.</a:t>
            </a:r>
          </a:p>
          <a:p>
            <a:pPr marL="357188" indent="-344488" algn="just">
              <a:spcBef>
                <a:spcPts val="500"/>
              </a:spcBef>
              <a:buFont typeface="Arial" pitchFamily="34" charset="0"/>
              <a:buChar char="•"/>
              <a:tabLst>
                <a:tab pos="357188" algn="l"/>
              </a:tabLst>
            </a:pPr>
            <a:r>
              <a:rPr lang="en-US" sz="2400" dirty="0">
                <a:solidFill>
                  <a:srgbClr val="000000"/>
                </a:solidFill>
                <a:latin typeface="Georgia" pitchFamily="18" charset="0"/>
              </a:rPr>
              <a:t>The smaller cells are known as </a:t>
            </a: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Microcells</a:t>
            </a:r>
            <a:r>
              <a:rPr lang="en-US" sz="2400" dirty="0">
                <a:solidFill>
                  <a:srgbClr val="000000"/>
                </a:solidFill>
                <a:latin typeface="Georgia" pitchFamily="18" charset="0"/>
              </a:rPr>
              <a:t>.</a:t>
            </a:r>
          </a:p>
          <a:p>
            <a:pPr marL="357188" indent="-344488" algn="just">
              <a:spcBef>
                <a:spcPts val="500"/>
              </a:spcBef>
              <a:buFont typeface="Arial" pitchFamily="34" charset="0"/>
              <a:buChar char="•"/>
              <a:tabLst>
                <a:tab pos="357188" algn="l"/>
              </a:tabLst>
            </a:pPr>
            <a:r>
              <a:rPr lang="en-US" sz="2400" dirty="0">
                <a:solidFill>
                  <a:srgbClr val="000000"/>
                </a:solidFill>
                <a:latin typeface="Georgia" pitchFamily="18" charset="0"/>
              </a:rPr>
              <a:t>Cell Splitting increases the capacity of the cellular system as it increases the number of times the channels are reused</a:t>
            </a:r>
          </a:p>
          <a:p>
            <a:pPr marL="357188" indent="-344488" algn="just">
              <a:spcBef>
                <a:spcPts val="500"/>
              </a:spcBef>
              <a:buFont typeface="Arial" pitchFamily="34" charset="0"/>
              <a:buChar char="•"/>
              <a:tabLst>
                <a:tab pos="357188" algn="l"/>
              </a:tabLst>
            </a:pPr>
            <a:r>
              <a:rPr lang="en-US" sz="2400" dirty="0">
                <a:solidFill>
                  <a:srgbClr val="000000"/>
                </a:solidFill>
                <a:latin typeface="Georgia" pitchFamily="18" charset="0"/>
              </a:rPr>
              <a:t>The increased number of cells would increase the number of clusters  over  the  coverage  region,  which  in  turn  increase  the number of channels, and thus capacity in the coverage area</a:t>
            </a:r>
          </a:p>
          <a:p>
            <a:pPr marL="357188" indent="-344488" algn="just">
              <a:spcBef>
                <a:spcPts val="500"/>
              </a:spcBef>
              <a:buFont typeface="Arial" pitchFamily="34" charset="0"/>
              <a:buChar char="•"/>
              <a:tabLst>
                <a:tab pos="357188" algn="l"/>
              </a:tabLst>
            </a:pPr>
            <a:r>
              <a:rPr lang="en-US" sz="2400" dirty="0">
                <a:solidFill>
                  <a:srgbClr val="000000"/>
                </a:solidFill>
                <a:latin typeface="Georgia" pitchFamily="18" charset="0"/>
              </a:rPr>
              <a:t>Cell Splitting allows the system to grow by replacing large cells with smaller cells </a:t>
            </a:r>
            <a:r>
              <a:rPr lang="en-US" sz="2400" b="1" dirty="0">
                <a:solidFill>
                  <a:srgbClr val="FF0000"/>
                </a:solidFill>
                <a:latin typeface="Georgia" pitchFamily="18" charset="0"/>
              </a:rPr>
              <a:t>without changing the co-channel re-use ratio Q</a:t>
            </a:r>
            <a:endParaRPr lang="en-US" sz="2400" dirty="0">
              <a:solidFill>
                <a:srgbClr val="000000"/>
              </a:solidFill>
              <a:latin typeface="Georgia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  <a:defRPr/>
            </a:pPr>
            <a:fld id="{393A515F-1AF7-4767-8883-A79C18E16C43}" type="slidenum">
              <a:rPr lang="en-IN" kern="0" spc="-25"/>
              <a:pPr marL="38100">
                <a:lnSpc>
                  <a:spcPts val="1240"/>
                </a:lnSpc>
                <a:defRPr/>
              </a:pPr>
              <a:t>81</a:t>
            </a:fld>
            <a:endParaRPr lang="en-IN" kern="0" spc="-25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22-Cellular-concepts-and-system-design-fundamentals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571"/>
            <a:ext cx="120396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5974" y="69941"/>
            <a:ext cx="11808542" cy="6693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object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48232" y="462130"/>
            <a:ext cx="6613218" cy="5352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  <a:defRPr/>
            </a:pPr>
            <a:fld id="{3E5BB6AC-008E-4E0C-9407-4C65449ACE0D}" type="slidenum">
              <a:rPr lang="en-IN" kern="0" spc="-25"/>
              <a:pPr marL="38100">
                <a:lnSpc>
                  <a:spcPts val="1240"/>
                </a:lnSpc>
                <a:defRPr/>
              </a:pPr>
              <a:t>84</a:t>
            </a:fld>
            <a:endParaRPr lang="en-IN" kern="0" spc="-25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4465" y="0"/>
            <a:ext cx="11867535" cy="699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9950"/>
            <a:ext cx="10903974" cy="6676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20876" y="41014"/>
            <a:ext cx="8927691" cy="68203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5343" y="67913"/>
            <a:ext cx="9242322" cy="6679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119" y="678426"/>
            <a:ext cx="11750229" cy="55809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6581" y="236294"/>
            <a:ext cx="10019071" cy="6510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6607" y="0"/>
            <a:ext cx="10515600" cy="1325563"/>
          </a:xfrm>
        </p:spPr>
        <p:txBody>
          <a:bodyPr vert="horz" lIns="91440" tIns="390702" rIns="91440" bIns="45720" rtlCol="0" anchor="ctr">
            <a:normAutofit/>
          </a:bodyPr>
          <a:lstStyle/>
          <a:p>
            <a:pPr marL="436245">
              <a:spcBef>
                <a:spcPts val="105"/>
              </a:spcBef>
              <a:defRPr/>
            </a:pPr>
            <a:r>
              <a:rPr sz="4000" dirty="0"/>
              <a:t>Cell</a:t>
            </a:r>
            <a:r>
              <a:rPr sz="4000" spc="30" dirty="0"/>
              <a:t> </a:t>
            </a:r>
            <a:r>
              <a:rPr sz="4000" spc="65" dirty="0"/>
              <a:t>Splitting</a:t>
            </a:r>
            <a:r>
              <a:rPr sz="4000" dirty="0"/>
              <a:t> </a:t>
            </a:r>
            <a:r>
              <a:rPr sz="4000" spc="55" dirty="0"/>
              <a:t>Drawbacks</a:t>
            </a:r>
            <a:endParaRPr sz="4000" dirty="0"/>
          </a:p>
        </p:txBody>
      </p:sp>
      <p:sp>
        <p:nvSpPr>
          <p:cNvPr id="69636" name="object 3"/>
          <p:cNvSpPr txBox="1">
            <a:spLocks noChangeArrowheads="1"/>
          </p:cNvSpPr>
          <p:nvPr/>
        </p:nvSpPr>
        <p:spPr bwMode="auto">
          <a:xfrm>
            <a:off x="698090" y="1325563"/>
            <a:ext cx="10874478" cy="38856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12700" rIns="0" bIns="0">
            <a:spAutoFit/>
          </a:bodyPr>
          <a:lstStyle/>
          <a:p>
            <a:pPr marL="355600" indent="-344488">
              <a:spcBef>
                <a:spcPts val="100"/>
              </a:spcBef>
              <a:buFont typeface="Arial" pitchFamily="34" charset="0"/>
              <a:buChar char="•"/>
              <a:tabLst>
                <a:tab pos="355600" algn="l"/>
              </a:tabLst>
            </a:pPr>
            <a:r>
              <a:rPr lang="en-US" sz="3000" dirty="0">
                <a:solidFill>
                  <a:srgbClr val="000000"/>
                </a:solidFill>
                <a:latin typeface="Trebuchet MS" pitchFamily="34" charset="0"/>
              </a:rPr>
              <a:t>In practice not all cells are split simultaneously, therefore we may have cells of different sizes.</a:t>
            </a:r>
          </a:p>
          <a:p>
            <a:pPr marL="355600" indent="-344488">
              <a:spcBef>
                <a:spcPts val="725"/>
              </a:spcBef>
              <a:buFont typeface="Arial" pitchFamily="34" charset="0"/>
              <a:buChar char="•"/>
              <a:tabLst>
                <a:tab pos="355600" algn="l"/>
              </a:tabLst>
            </a:pPr>
            <a:r>
              <a:rPr lang="en-US" sz="3000" dirty="0">
                <a:solidFill>
                  <a:srgbClr val="000000"/>
                </a:solidFill>
                <a:latin typeface="Trebuchet MS" pitchFamily="34" charset="0"/>
              </a:rPr>
              <a:t>Also the </a:t>
            </a:r>
            <a:r>
              <a:rPr lang="en-US" sz="3000" b="1" dirty="0">
                <a:solidFill>
                  <a:srgbClr val="FF0000"/>
                </a:solidFill>
                <a:latin typeface="Liberation Sans Narrow"/>
                <a:ea typeface="Liberation Sans Narrow"/>
                <a:cs typeface="Liberation Sans Narrow"/>
              </a:rPr>
              <a:t>handoff </a:t>
            </a:r>
            <a:r>
              <a:rPr lang="en-US" sz="3000" dirty="0">
                <a:solidFill>
                  <a:srgbClr val="000000"/>
                </a:solidFill>
                <a:latin typeface="Trebuchet MS" pitchFamily="34" charset="0"/>
              </a:rPr>
              <a:t>between the cells and microcells has to be </a:t>
            </a:r>
            <a:r>
              <a:rPr lang="en-US" sz="3000" b="1" dirty="0">
                <a:solidFill>
                  <a:srgbClr val="000000"/>
                </a:solidFill>
                <a:latin typeface="Liberation Sans Narrow"/>
                <a:ea typeface="Liberation Sans Narrow"/>
                <a:cs typeface="Liberation Sans Narrow"/>
              </a:rPr>
              <a:t>taken care </a:t>
            </a:r>
            <a:r>
              <a:rPr lang="en-US" sz="3000" dirty="0">
                <a:solidFill>
                  <a:srgbClr val="000000"/>
                </a:solidFill>
                <a:latin typeface="Trebuchet MS" pitchFamily="34" charset="0"/>
              </a:rPr>
              <a:t>off so that high speed and low speed mobiles are equally served.</a:t>
            </a:r>
          </a:p>
          <a:p>
            <a:pPr marL="355600" indent="-344488">
              <a:spcBef>
                <a:spcPts val="725"/>
              </a:spcBef>
              <a:buFont typeface="Arial" pitchFamily="34" charset="0"/>
              <a:buChar char="•"/>
              <a:tabLst>
                <a:tab pos="355600" algn="l"/>
              </a:tabLst>
            </a:pPr>
            <a:r>
              <a:rPr lang="en-US" sz="3000" b="1" dirty="0">
                <a:solidFill>
                  <a:srgbClr val="FF0000"/>
                </a:solidFill>
                <a:latin typeface="Liberation Sans Narrow"/>
                <a:ea typeface="Liberation Sans Narrow"/>
                <a:cs typeface="Liberation Sans Narrow"/>
              </a:rPr>
              <a:t>Decreasing cell size results in more handoffs </a:t>
            </a:r>
            <a:r>
              <a:rPr lang="en-US" sz="3000" dirty="0">
                <a:solidFill>
                  <a:srgbClr val="000000"/>
                </a:solidFill>
                <a:latin typeface="Trebuchet MS" pitchFamily="34" charset="0"/>
              </a:rPr>
              <a:t>per call and higher processing load per subscriber. Thus, the handoff rate will increase exponentially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  <a:defRPr/>
            </a:pPr>
            <a:fld id="{1B81959F-BB4D-4620-8DD5-4A3C61F8D641}" type="slidenum">
              <a:rPr lang="en-IN" kern="0" spc="-25"/>
              <a:pPr marL="38100">
                <a:lnSpc>
                  <a:spcPts val="1240"/>
                </a:lnSpc>
                <a:defRPr/>
              </a:pPr>
              <a:t>91</a:t>
            </a:fld>
            <a:endParaRPr lang="en-IN" kern="0" spc="-25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4376" y="144464"/>
            <a:ext cx="3654425" cy="636587"/>
          </a:xfrm>
        </p:spPr>
        <p:txBody>
          <a:bodyPr vert="horz" lIns="91440" tIns="13970" rIns="91440" bIns="45720" rtlCol="0" anchor="ctr">
            <a:normAutofit/>
          </a:bodyPr>
          <a:lstStyle/>
          <a:p>
            <a:pPr marL="12700">
              <a:spcBef>
                <a:spcPts val="110"/>
              </a:spcBef>
              <a:defRPr/>
            </a:pPr>
            <a:r>
              <a:rPr sz="4000" spc="50" dirty="0"/>
              <a:t>2.Sectoring</a:t>
            </a:r>
            <a:endParaRPr sz="4000" dirty="0"/>
          </a:p>
        </p:txBody>
      </p:sp>
      <p:sp>
        <p:nvSpPr>
          <p:cNvPr id="72707" name="object 3"/>
          <p:cNvSpPr txBox="1">
            <a:spLocks noChangeArrowheads="1"/>
          </p:cNvSpPr>
          <p:nvPr/>
        </p:nvSpPr>
        <p:spPr bwMode="auto">
          <a:xfrm>
            <a:off x="1908175" y="698500"/>
            <a:ext cx="8027988" cy="450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96520" rIns="0" bIns="0">
            <a:spAutoFit/>
          </a:bodyPr>
          <a:lstStyle/>
          <a:p>
            <a:pPr marL="355600" indent="-344488">
              <a:lnSpc>
                <a:spcPct val="80000"/>
              </a:lnSpc>
              <a:spcBef>
                <a:spcPts val="763"/>
              </a:spcBef>
              <a:buFont typeface="Arial" pitchFamily="34" charset="0"/>
              <a:buChar char="•"/>
              <a:tabLst>
                <a:tab pos="355600" algn="l"/>
              </a:tabLst>
            </a:pPr>
            <a:r>
              <a:rPr lang="en-US" sz="2500" dirty="0">
                <a:solidFill>
                  <a:srgbClr val="000000"/>
                </a:solidFill>
                <a:latin typeface="Trebuchet MS" pitchFamily="34" charset="0"/>
              </a:rPr>
              <a:t>The co-channel interference in a cellular system can be decreased by replacing the omni directional antenna at the base station by several directional antennas, each radiating within a specified sector.</a:t>
            </a:r>
          </a:p>
          <a:p>
            <a:pPr marL="355600" indent="-344488">
              <a:lnSpc>
                <a:spcPts val="2588"/>
              </a:lnSpc>
              <a:spcBef>
                <a:spcPts val="625"/>
              </a:spcBef>
              <a:buFont typeface="Arial" pitchFamily="34" charset="0"/>
              <a:buChar char="•"/>
              <a:tabLst>
                <a:tab pos="355600" algn="l"/>
              </a:tabLst>
            </a:pPr>
            <a:r>
              <a:rPr lang="en-US" sz="2500" b="1" dirty="0">
                <a:solidFill>
                  <a:srgbClr val="000000"/>
                </a:solidFill>
                <a:latin typeface="Liberation Sans Narrow"/>
                <a:ea typeface="Liberation Sans Narrow"/>
                <a:cs typeface="Liberation Sans Narrow"/>
              </a:rPr>
              <a:t>The process of reducing the co-channel interference and thus increasing the capacity of the system by using directional antennas is known as </a:t>
            </a:r>
            <a:r>
              <a:rPr lang="en-US" sz="2500" b="1" i="1" dirty="0">
                <a:solidFill>
                  <a:srgbClr val="FF0000"/>
                </a:solidFill>
                <a:latin typeface="Liberation Sans Narrow"/>
                <a:ea typeface="Liberation Sans Narrow"/>
                <a:cs typeface="Liberation Sans Narrow"/>
              </a:rPr>
              <a:t>Sectoring.</a:t>
            </a:r>
            <a:endParaRPr lang="en-US" sz="2500" dirty="0">
              <a:solidFill>
                <a:srgbClr val="000000"/>
              </a:solidFill>
              <a:latin typeface="Liberation Sans Narrow"/>
              <a:ea typeface="Liberation Sans Narrow"/>
              <a:cs typeface="Liberation Sans Narrow"/>
            </a:endParaRPr>
          </a:p>
          <a:p>
            <a:pPr marL="355600" indent="-344488" algn="just">
              <a:lnSpc>
                <a:spcPts val="2588"/>
              </a:lnSpc>
              <a:spcBef>
                <a:spcPts val="650"/>
              </a:spcBef>
              <a:buFont typeface="Arial" pitchFamily="34" charset="0"/>
              <a:buChar char="•"/>
              <a:tabLst>
                <a:tab pos="355600" algn="l"/>
              </a:tabLst>
            </a:pPr>
            <a:r>
              <a:rPr lang="en-US" sz="2500" dirty="0">
                <a:solidFill>
                  <a:srgbClr val="000000"/>
                </a:solidFill>
                <a:latin typeface="Trebuchet MS" pitchFamily="34" charset="0"/>
              </a:rPr>
              <a:t>	In general a cell is partitioned into three 120 degree sectors or six 60 degree sectors.</a:t>
            </a:r>
          </a:p>
          <a:p>
            <a:pPr marL="355600" indent="-344488" algn="just">
              <a:lnSpc>
                <a:spcPct val="80000"/>
              </a:lnSpc>
              <a:spcBef>
                <a:spcPts val="675"/>
              </a:spcBef>
              <a:buFont typeface="Arial" pitchFamily="34" charset="0"/>
              <a:buChar char="•"/>
              <a:tabLst>
                <a:tab pos="355600" algn="l"/>
              </a:tabLst>
            </a:pPr>
            <a:r>
              <a:rPr lang="en-US" sz="2500" dirty="0">
                <a:solidFill>
                  <a:srgbClr val="000000"/>
                </a:solidFill>
                <a:latin typeface="Trebuchet MS" pitchFamily="34" charset="0"/>
              </a:rPr>
              <a:t>When sectoring is employed, the channels used in a particular cell are broken down into sectored groups and are used only in a particular sector.</a:t>
            </a:r>
          </a:p>
        </p:txBody>
      </p:sp>
      <p:pic>
        <p:nvPicPr>
          <p:cNvPr id="72708" name="object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5964" y="5208588"/>
            <a:ext cx="7310437" cy="1420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  <a:defRPr/>
            </a:pPr>
            <a:fld id="{D43D2207-68BD-4529-AE3A-919E96E0B027}" type="slidenum">
              <a:rPr lang="en-IN" kern="0" spc="-25"/>
              <a:pPr marL="38100">
                <a:lnSpc>
                  <a:spcPts val="1240"/>
                </a:lnSpc>
                <a:defRPr/>
              </a:pPr>
              <a:t>92</a:t>
            </a:fld>
            <a:endParaRPr lang="en-IN" kern="0" spc="-25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 vert="horz" lIns="91440" tIns="390702" rIns="91440" bIns="45720" rtlCol="0" anchor="ctr">
            <a:normAutofit/>
          </a:bodyPr>
          <a:lstStyle/>
          <a:p>
            <a:pPr marL="436245">
              <a:spcBef>
                <a:spcPts val="105"/>
              </a:spcBef>
              <a:defRPr/>
            </a:pPr>
            <a:r>
              <a:rPr sz="4000" dirty="0"/>
              <a:t>Sectoring</a:t>
            </a:r>
            <a:r>
              <a:rPr sz="4000" spc="160" dirty="0"/>
              <a:t> </a:t>
            </a:r>
            <a:r>
              <a:rPr sz="4000" spc="90" dirty="0"/>
              <a:t>improves</a:t>
            </a:r>
            <a:r>
              <a:rPr sz="4000" spc="145" dirty="0"/>
              <a:t> </a:t>
            </a:r>
            <a:r>
              <a:rPr sz="4000" spc="185" dirty="0"/>
              <a:t>S/I</a:t>
            </a:r>
            <a:endParaRPr sz="4000" dirty="0"/>
          </a:p>
        </p:txBody>
      </p:sp>
      <p:pic>
        <p:nvPicPr>
          <p:cNvPr id="73731" name="object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5201" y="1524000"/>
            <a:ext cx="4919663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  <a:defRPr/>
            </a:pPr>
            <a:fld id="{9C07AF1B-5DBA-467E-AD85-D6018EBF5627}" type="slidenum">
              <a:rPr lang="en-IN" kern="0" spc="-25"/>
              <a:pPr marL="38100">
                <a:lnSpc>
                  <a:spcPts val="1240"/>
                </a:lnSpc>
                <a:defRPr/>
              </a:pPr>
              <a:t>93</a:t>
            </a:fld>
            <a:endParaRPr lang="en-IN" kern="0" spc="-25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79871" y="31109"/>
            <a:ext cx="9851923" cy="6779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object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12490" y="1032387"/>
            <a:ext cx="9991593" cy="3957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  <a:defRPr/>
            </a:pPr>
            <a:fld id="{0E6F2FA8-FC6B-4810-BC25-C96B9E790A3E}" type="slidenum">
              <a:rPr lang="en-IN" kern="0" spc="-25"/>
              <a:pPr marL="38100">
                <a:lnSpc>
                  <a:spcPts val="1240"/>
                </a:lnSpc>
                <a:defRPr/>
              </a:pPr>
              <a:t>95</a:t>
            </a:fld>
            <a:endParaRPr lang="en-IN" kern="0" spc="-25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object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8297" y="141713"/>
            <a:ext cx="8465574" cy="66182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  <a:defRPr/>
            </a:pPr>
            <a:fld id="{7B0AE2FF-E759-4A30-AA1C-FA42811C58C3}" type="slidenum">
              <a:rPr lang="en-IN" kern="0" spc="-25"/>
              <a:pPr marL="38100">
                <a:lnSpc>
                  <a:spcPts val="1240"/>
                </a:lnSpc>
                <a:defRPr/>
              </a:pPr>
              <a:t>96</a:t>
            </a:fld>
            <a:endParaRPr lang="en-IN" kern="0" spc="-25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2" name="object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24051" y="2276475"/>
            <a:ext cx="1681163" cy="421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6803" name="object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94189" y="981076"/>
            <a:ext cx="5876925" cy="541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/>
        <p:txBody>
          <a:bodyPr vert="horz" lIns="91440" tIns="12700" rIns="91440" bIns="45720" rtlCol="0" anchor="ctr">
            <a:normAutofit/>
          </a:bodyPr>
          <a:lstStyle/>
          <a:p>
            <a:pPr marL="38100">
              <a:spcBef>
                <a:spcPts val="100"/>
              </a:spcBef>
              <a:defRPr/>
            </a:pPr>
            <a:r>
              <a:rPr sz="3600" spc="-80" dirty="0">
                <a:solidFill>
                  <a:srgbClr val="000000"/>
                </a:solidFill>
                <a:latin typeface="Trebuchet MS"/>
                <a:cs typeface="Trebuchet MS"/>
              </a:rPr>
              <a:t>120</a:t>
            </a:r>
            <a:r>
              <a:rPr sz="3600" spc="-120" baseline="25462" dirty="0">
                <a:solidFill>
                  <a:srgbClr val="000000"/>
                </a:solidFill>
                <a:latin typeface="Trebuchet MS"/>
                <a:cs typeface="Trebuchet MS"/>
              </a:rPr>
              <a:t>0</a:t>
            </a:r>
            <a:r>
              <a:rPr sz="3600" spc="-240" baseline="25462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3600" spc="-125" dirty="0">
                <a:solidFill>
                  <a:srgbClr val="000000"/>
                </a:solidFill>
                <a:latin typeface="Trebuchet MS"/>
                <a:cs typeface="Trebuchet MS"/>
              </a:rPr>
              <a:t>Sectoring</a:t>
            </a:r>
            <a:endParaRPr sz="3600" dirty="0">
              <a:latin typeface="Trebuchet MS"/>
              <a:cs typeface="Trebuchet M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  <a:defRPr/>
            </a:pPr>
            <a:fld id="{D053C41B-C89D-44E4-8275-263B29DEA089}" type="slidenum">
              <a:rPr lang="en-IN" kern="0" spc="-25"/>
              <a:pPr marL="38100">
                <a:lnSpc>
                  <a:spcPts val="1240"/>
                </a:lnSpc>
                <a:defRPr/>
              </a:pPr>
              <a:t>97</a:t>
            </a:fld>
            <a:endParaRPr lang="en-IN" kern="0" spc="-25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object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82889" y="944564"/>
            <a:ext cx="7635875" cy="5303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5916" y="0"/>
            <a:ext cx="10515600" cy="1325563"/>
          </a:xfrm>
        </p:spPr>
        <p:txBody>
          <a:bodyPr vert="horz" lIns="91440" tIns="12700" rIns="91440" bIns="45720" rtlCol="0" anchor="ctr">
            <a:normAutofit/>
          </a:bodyPr>
          <a:lstStyle/>
          <a:p>
            <a:pPr marL="38100">
              <a:spcBef>
                <a:spcPts val="100"/>
              </a:spcBef>
              <a:defRPr/>
            </a:pPr>
            <a:r>
              <a:rPr sz="3600" spc="-80" dirty="0">
                <a:solidFill>
                  <a:srgbClr val="000000"/>
                </a:solidFill>
                <a:latin typeface="Trebuchet MS"/>
                <a:cs typeface="Trebuchet MS"/>
              </a:rPr>
              <a:t>60</a:t>
            </a:r>
            <a:r>
              <a:rPr sz="3600" spc="-120" baseline="25462" dirty="0">
                <a:solidFill>
                  <a:srgbClr val="000000"/>
                </a:solidFill>
                <a:latin typeface="Trebuchet MS"/>
                <a:cs typeface="Trebuchet MS"/>
              </a:rPr>
              <a:t>0</a:t>
            </a:r>
            <a:r>
              <a:rPr sz="3600" spc="-247" baseline="25462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3600" spc="-125" dirty="0">
                <a:solidFill>
                  <a:srgbClr val="000000"/>
                </a:solidFill>
                <a:latin typeface="Trebuchet MS"/>
                <a:cs typeface="Trebuchet MS"/>
              </a:rPr>
              <a:t>Sectoring</a:t>
            </a:r>
            <a:endParaRPr sz="3600" dirty="0">
              <a:latin typeface="Trebuchet MS"/>
              <a:cs typeface="Trebuchet M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  <a:defRPr/>
            </a:pPr>
            <a:fld id="{2DA4864F-BF4C-4DC3-AFB2-0A647ED26252}" type="slidenum">
              <a:rPr lang="en-IN" kern="0" spc="-25"/>
              <a:pPr marL="38100">
                <a:lnSpc>
                  <a:spcPts val="1240"/>
                </a:lnSpc>
                <a:defRPr/>
              </a:pPr>
              <a:t>98</a:t>
            </a:fld>
            <a:endParaRPr lang="en-IN" kern="0" spc="-25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object 2"/>
          <p:cNvSpPr txBox="1">
            <a:spLocks noChangeArrowheads="1"/>
          </p:cNvSpPr>
          <p:nvPr/>
        </p:nvSpPr>
        <p:spPr bwMode="auto">
          <a:xfrm>
            <a:off x="845574" y="324465"/>
            <a:ext cx="10304207" cy="3985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104139" rIns="0" bIns="0">
            <a:spAutoFit/>
          </a:bodyPr>
          <a:lstStyle/>
          <a:p>
            <a:pPr marL="355600" indent="-344488">
              <a:lnSpc>
                <a:spcPct val="80000"/>
              </a:lnSpc>
              <a:spcBef>
                <a:spcPts val="825"/>
              </a:spcBef>
              <a:buFont typeface="Arial" pitchFamily="34" charset="0"/>
              <a:buChar char="•"/>
              <a:tabLst>
                <a:tab pos="355600" algn="l"/>
              </a:tabLst>
            </a:pPr>
            <a:r>
              <a:rPr lang="en-US" sz="3000" dirty="0">
                <a:solidFill>
                  <a:srgbClr val="000000"/>
                </a:solidFill>
                <a:latin typeface="Trebuchet MS" pitchFamily="34" charset="0"/>
              </a:rPr>
              <a:t>The Improvement in </a:t>
            </a:r>
            <a:r>
              <a:rPr lang="en-US" sz="3000" b="1" i="1" dirty="0">
                <a:solidFill>
                  <a:srgbClr val="000000"/>
                </a:solidFill>
                <a:latin typeface="Liberation Sans Narrow"/>
                <a:ea typeface="Liberation Sans Narrow"/>
                <a:cs typeface="Liberation Sans Narrow"/>
              </a:rPr>
              <a:t>(S/I) </a:t>
            </a:r>
            <a:r>
              <a:rPr lang="en-US" sz="3000" dirty="0">
                <a:solidFill>
                  <a:srgbClr val="000000"/>
                </a:solidFill>
                <a:latin typeface="Trebuchet MS" pitchFamily="34" charset="0"/>
              </a:rPr>
              <a:t>suggests that the minimum required </a:t>
            </a:r>
            <a:r>
              <a:rPr lang="en-US" sz="3000" b="1" i="1" dirty="0">
                <a:solidFill>
                  <a:srgbClr val="000000"/>
                </a:solidFill>
                <a:latin typeface="Liberation Sans Narrow"/>
                <a:ea typeface="Liberation Sans Narrow"/>
                <a:cs typeface="Liberation Sans Narrow"/>
              </a:rPr>
              <a:t>(S/I) </a:t>
            </a:r>
            <a:r>
              <a:rPr lang="en-US" sz="3000" dirty="0">
                <a:solidFill>
                  <a:srgbClr val="000000"/>
                </a:solidFill>
                <a:latin typeface="Trebuchet MS" pitchFamily="34" charset="0"/>
              </a:rPr>
              <a:t>of 18 dB can be easily achieved with 7-cell reuse by employing 120 degree sector technique when compared to 12-cell reuse</a:t>
            </a:r>
          </a:p>
          <a:p>
            <a:pPr marL="355600" indent="-344488">
              <a:lnSpc>
                <a:spcPts val="2875"/>
              </a:lnSpc>
              <a:spcBef>
                <a:spcPts val="700"/>
              </a:spcBef>
              <a:buFont typeface="Arial" pitchFamily="34" charset="0"/>
              <a:buChar char="•"/>
              <a:tabLst>
                <a:tab pos="355600" algn="l"/>
              </a:tabLst>
            </a:pPr>
            <a:r>
              <a:rPr lang="en-US" sz="3000" dirty="0">
                <a:solidFill>
                  <a:srgbClr val="000000"/>
                </a:solidFill>
                <a:latin typeface="Trebuchet MS" pitchFamily="34" charset="0"/>
              </a:rPr>
              <a:t>Therefore Sectoring reduces interference and increases the capacity by an amount of </a:t>
            </a:r>
            <a:r>
              <a:rPr lang="en-US" sz="3000" b="1" i="1" dirty="0">
                <a:solidFill>
                  <a:srgbClr val="000000"/>
                </a:solidFill>
                <a:latin typeface="Liberation Sans Narrow"/>
                <a:ea typeface="Liberation Sans Narrow"/>
                <a:cs typeface="Liberation Sans Narrow"/>
              </a:rPr>
              <a:t>(12/7)</a:t>
            </a:r>
            <a:endParaRPr lang="en-US" sz="3000" dirty="0">
              <a:solidFill>
                <a:srgbClr val="000000"/>
              </a:solidFill>
              <a:latin typeface="Liberation Sans Narrow"/>
              <a:ea typeface="Liberation Sans Narrow"/>
              <a:cs typeface="Liberation Sans Narrow"/>
            </a:endParaRPr>
          </a:p>
          <a:p>
            <a:pPr marL="355600" indent="-344488">
              <a:lnSpc>
                <a:spcPts val="2900"/>
              </a:lnSpc>
              <a:tabLst>
                <a:tab pos="355600" algn="l"/>
              </a:tabLst>
            </a:pPr>
            <a:r>
              <a:rPr lang="en-US" sz="3000" dirty="0" err="1">
                <a:solidFill>
                  <a:srgbClr val="000000"/>
                </a:solidFill>
                <a:latin typeface="Trebuchet MS" pitchFamily="34" charset="0"/>
              </a:rPr>
              <a:t>i.e</a:t>
            </a:r>
            <a:r>
              <a:rPr lang="en-US" sz="3000" dirty="0">
                <a:solidFill>
                  <a:srgbClr val="000000"/>
                </a:solidFill>
                <a:latin typeface="Trebuchet MS" pitchFamily="34" charset="0"/>
              </a:rPr>
              <a:t> </a:t>
            </a:r>
            <a:r>
              <a:rPr lang="en-US" sz="3000" b="1" i="1" dirty="0">
                <a:solidFill>
                  <a:srgbClr val="000000"/>
                </a:solidFill>
                <a:latin typeface="Liberation Sans Narrow"/>
                <a:ea typeface="Liberation Sans Narrow"/>
                <a:cs typeface="Liberation Sans Narrow"/>
              </a:rPr>
              <a:t>1.714</a:t>
            </a:r>
            <a:endParaRPr lang="en-US" sz="3000" dirty="0">
              <a:solidFill>
                <a:srgbClr val="000000"/>
              </a:solidFill>
              <a:latin typeface="Liberation Sans Narrow"/>
              <a:ea typeface="Liberation Sans Narrow"/>
              <a:cs typeface="Liberation Sans Narrow"/>
            </a:endParaRPr>
          </a:p>
          <a:p>
            <a:pPr marL="355600" indent="-344488">
              <a:lnSpc>
                <a:spcPct val="80000"/>
              </a:lnSpc>
              <a:spcBef>
                <a:spcPts val="725"/>
              </a:spcBef>
              <a:buFont typeface="Arial" pitchFamily="34" charset="0"/>
              <a:buChar char="•"/>
              <a:tabLst>
                <a:tab pos="355600" algn="l"/>
              </a:tabLst>
            </a:pPr>
            <a:r>
              <a:rPr lang="en-US" sz="3000" dirty="0">
                <a:solidFill>
                  <a:srgbClr val="000000"/>
                </a:solidFill>
                <a:latin typeface="Trebuchet MS" pitchFamily="34" charset="0"/>
              </a:rPr>
              <a:t>In general, the reduction in interference by sectoring enables planners to reduce the cluster size N, and provides an additional freedom in assigning channels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  <a:defRPr/>
            </a:pPr>
            <a:fld id="{90128A00-E2C4-4CB5-BBB4-7D3D26970B79}" type="slidenum">
              <a:rPr lang="en-IN" kern="0" spc="-25"/>
              <a:pPr marL="38100">
                <a:lnSpc>
                  <a:spcPts val="1240"/>
                </a:lnSpc>
                <a:defRPr/>
              </a:pPr>
              <a:t>99</a:t>
            </a:fld>
            <a:endParaRPr lang="en-IN" kern="0" spc="-25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4376" y="163514"/>
            <a:ext cx="4264025" cy="688975"/>
          </a:xfrm>
        </p:spPr>
        <p:txBody>
          <a:bodyPr vert="horz" lIns="91440" tIns="11430" rIns="91440" bIns="45720" rtlCol="0" anchor="ctr">
            <a:normAutofit/>
          </a:bodyPr>
          <a:lstStyle/>
          <a:p>
            <a:pPr marL="12700">
              <a:spcBef>
                <a:spcPts val="90"/>
              </a:spcBef>
              <a:defRPr/>
            </a:pPr>
            <a:r>
              <a:rPr spc="-10" dirty="0"/>
              <a:t>Disadvantages:</a:t>
            </a:r>
            <a:endParaRPr dirty="0"/>
          </a:p>
        </p:txBody>
      </p:sp>
      <p:sp>
        <p:nvSpPr>
          <p:cNvPr id="79876" name="object 3"/>
          <p:cNvSpPr txBox="1">
            <a:spLocks noChangeArrowheads="1"/>
          </p:cNvSpPr>
          <p:nvPr/>
        </p:nvSpPr>
        <p:spPr bwMode="auto">
          <a:xfrm>
            <a:off x="530942" y="1304926"/>
            <a:ext cx="11257935" cy="2678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11430" rIns="0" bIns="0">
            <a:spAutoFit/>
          </a:bodyPr>
          <a:lstStyle/>
          <a:p>
            <a:pPr marL="355600" indent="-344488">
              <a:spcBef>
                <a:spcPts val="88"/>
              </a:spcBef>
              <a:buFont typeface="Arial" pitchFamily="34" charset="0"/>
              <a:buChar char="•"/>
              <a:tabLst>
                <a:tab pos="355600" algn="l"/>
              </a:tabLst>
            </a:pPr>
            <a:r>
              <a:rPr lang="en-US" sz="3200" dirty="0">
                <a:solidFill>
                  <a:srgbClr val="000000"/>
                </a:solidFill>
                <a:latin typeface="Trebuchet MS" pitchFamily="34" charset="0"/>
              </a:rPr>
              <a:t>Increased number of </a:t>
            </a:r>
            <a:r>
              <a:rPr lang="en-US" sz="3200" b="1" i="1" dirty="0">
                <a:solidFill>
                  <a:srgbClr val="000000"/>
                </a:solidFill>
                <a:latin typeface="Liberation Sans Narrow"/>
                <a:ea typeface="Liberation Sans Narrow"/>
                <a:cs typeface="Liberation Sans Narrow"/>
              </a:rPr>
              <a:t>antennas </a:t>
            </a:r>
            <a:r>
              <a:rPr lang="en-US" sz="3200" dirty="0">
                <a:solidFill>
                  <a:srgbClr val="000000"/>
                </a:solidFill>
                <a:latin typeface="Trebuchet MS" pitchFamily="34" charset="0"/>
              </a:rPr>
              <a:t>at each base station</a:t>
            </a:r>
          </a:p>
          <a:p>
            <a:pPr marL="355600" indent="-344488">
              <a:spcBef>
                <a:spcPts val="775"/>
              </a:spcBef>
              <a:buFont typeface="Arial" pitchFamily="34" charset="0"/>
              <a:buChar char="•"/>
              <a:tabLst>
                <a:tab pos="355600" algn="l"/>
              </a:tabLst>
            </a:pPr>
            <a:r>
              <a:rPr lang="en-US" sz="3200" dirty="0">
                <a:solidFill>
                  <a:srgbClr val="000000"/>
                </a:solidFill>
                <a:latin typeface="Trebuchet MS" pitchFamily="34" charset="0"/>
              </a:rPr>
              <a:t>Decrease in </a:t>
            </a:r>
            <a:r>
              <a:rPr lang="en-US" sz="3200" b="1" i="1" dirty="0" err="1">
                <a:solidFill>
                  <a:srgbClr val="000000"/>
                </a:solidFill>
                <a:latin typeface="Liberation Sans Narrow"/>
                <a:ea typeface="Liberation Sans Narrow"/>
                <a:cs typeface="Liberation Sans Narrow"/>
              </a:rPr>
              <a:t>trunking</a:t>
            </a:r>
            <a:r>
              <a:rPr lang="en-US" sz="3200" b="1" i="1" dirty="0">
                <a:solidFill>
                  <a:srgbClr val="000000"/>
                </a:solidFill>
                <a:latin typeface="Liberation Sans Narrow"/>
                <a:ea typeface="Liberation Sans Narrow"/>
                <a:cs typeface="Liberation Sans Narrow"/>
              </a:rPr>
              <a:t> efficiency </a:t>
            </a:r>
            <a:r>
              <a:rPr lang="en-US" sz="3200" dirty="0">
                <a:solidFill>
                  <a:srgbClr val="000000"/>
                </a:solidFill>
                <a:latin typeface="Trebuchet MS" pitchFamily="34" charset="0"/>
              </a:rPr>
              <a:t>due to channel sectoring at each base station</a:t>
            </a:r>
          </a:p>
          <a:p>
            <a:pPr marL="355600" indent="-344488" algn="just">
              <a:spcBef>
                <a:spcPts val="775"/>
              </a:spcBef>
              <a:buFont typeface="Arial" pitchFamily="34" charset="0"/>
              <a:buChar char="•"/>
              <a:tabLst>
                <a:tab pos="355600" algn="l"/>
              </a:tabLst>
            </a:pPr>
            <a:r>
              <a:rPr lang="en-US" sz="3200" dirty="0">
                <a:solidFill>
                  <a:srgbClr val="000000"/>
                </a:solidFill>
                <a:latin typeface="Trebuchet MS" pitchFamily="34" charset="0"/>
              </a:rPr>
              <a:t>As sectoring reduces the coverage area of a 	particular group of channels, the number of 	handoffs increase.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  <a:defRPr/>
            </a:pPr>
            <a:fld id="{4600D6FB-803C-4162-95EE-F8D804B4269E}" type="slidenum">
              <a:rPr lang="en-IN" kern="0" spc="-25"/>
              <a:pPr marL="38100">
                <a:lnSpc>
                  <a:spcPts val="1240"/>
                </a:lnSpc>
                <a:defRPr/>
              </a:pPr>
              <a:t>100</a:t>
            </a:fld>
            <a:endParaRPr lang="en-IN" kern="0" spc="-25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8155" y="-21977"/>
            <a:ext cx="11700387" cy="6910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8741" y="226142"/>
            <a:ext cx="11325504" cy="61000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9363" y="253336"/>
            <a:ext cx="7540625" cy="574675"/>
          </a:xfrm>
        </p:spPr>
        <p:txBody>
          <a:bodyPr vert="horz" lIns="91440" tIns="12700" rIns="91440" bIns="45720" rtlCol="0" anchor="ctr">
            <a:norm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3600" spc="-40" dirty="0"/>
              <a:t>ADVANTAGES</a:t>
            </a:r>
            <a:r>
              <a:rPr sz="3600" spc="-155" dirty="0"/>
              <a:t> </a:t>
            </a:r>
            <a:r>
              <a:rPr sz="3600" dirty="0"/>
              <a:t>OVER</a:t>
            </a:r>
            <a:r>
              <a:rPr sz="3600" spc="-120" dirty="0"/>
              <a:t> </a:t>
            </a:r>
            <a:r>
              <a:rPr sz="3600" spc="-30" dirty="0"/>
              <a:t>SECTORING</a:t>
            </a:r>
            <a:endParaRPr sz="3600" dirty="0"/>
          </a:p>
        </p:txBody>
      </p:sp>
      <p:sp>
        <p:nvSpPr>
          <p:cNvPr id="81924" name="object 3"/>
          <p:cNvSpPr txBox="1">
            <a:spLocks noChangeArrowheads="1"/>
          </p:cNvSpPr>
          <p:nvPr/>
        </p:nvSpPr>
        <p:spPr bwMode="auto">
          <a:xfrm>
            <a:off x="698090" y="828011"/>
            <a:ext cx="10943303" cy="39780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58419" rIns="0" bIns="0">
            <a:spAutoFit/>
          </a:bodyPr>
          <a:lstStyle/>
          <a:p>
            <a:pPr marL="355600" indent="-344488">
              <a:lnSpc>
                <a:spcPct val="90000"/>
              </a:lnSpc>
              <a:spcBef>
                <a:spcPts val="463"/>
              </a:spcBef>
              <a:buFont typeface="Arial" pitchFamily="34" charset="0"/>
              <a:buChar char="•"/>
              <a:tabLst>
                <a:tab pos="355600" algn="l"/>
              </a:tabLst>
            </a:pPr>
            <a:r>
              <a:rPr lang="en-US" sz="3000" dirty="0">
                <a:solidFill>
                  <a:srgbClr val="000000"/>
                </a:solidFill>
                <a:latin typeface="Trebuchet MS" pitchFamily="34" charset="0"/>
              </a:rPr>
              <a:t>As the mobile travels from one zone to another within the cell, it retains the same </a:t>
            </a:r>
            <a:r>
              <a:rPr lang="en-US" sz="3000" dirty="0" err="1">
                <a:solidFill>
                  <a:srgbClr val="000000"/>
                </a:solidFill>
                <a:latin typeface="Trebuchet MS" pitchFamily="34" charset="0"/>
              </a:rPr>
              <a:t>channel.Thus</a:t>
            </a:r>
            <a:r>
              <a:rPr lang="en-US" sz="3000" dirty="0">
                <a:solidFill>
                  <a:srgbClr val="000000"/>
                </a:solidFill>
                <a:latin typeface="Trebuchet MS" pitchFamily="34" charset="0"/>
              </a:rPr>
              <a:t>, a </a:t>
            </a:r>
            <a:r>
              <a:rPr lang="en-US" sz="3000" b="1" dirty="0">
                <a:solidFill>
                  <a:srgbClr val="000000"/>
                </a:solidFill>
                <a:latin typeface="Liberation Sans Narrow"/>
                <a:ea typeface="Liberation Sans Narrow"/>
                <a:cs typeface="Liberation Sans Narrow"/>
              </a:rPr>
              <a:t>handoff is not required </a:t>
            </a:r>
            <a:r>
              <a:rPr lang="en-US" sz="3000" dirty="0">
                <a:solidFill>
                  <a:srgbClr val="000000"/>
                </a:solidFill>
                <a:latin typeface="Trebuchet MS" pitchFamily="34" charset="0"/>
              </a:rPr>
              <a:t>at the MSC</a:t>
            </a:r>
          </a:p>
          <a:p>
            <a:pPr marL="355600" indent="-344488">
              <a:lnSpc>
                <a:spcPct val="90000"/>
              </a:lnSpc>
              <a:spcBef>
                <a:spcPts val="725"/>
              </a:spcBef>
              <a:buFont typeface="Arial" pitchFamily="34" charset="0"/>
              <a:buChar char="•"/>
              <a:tabLst>
                <a:tab pos="355600" algn="l"/>
              </a:tabLst>
            </a:pPr>
            <a:r>
              <a:rPr lang="en-US" sz="3000" dirty="0">
                <a:solidFill>
                  <a:srgbClr val="000000"/>
                </a:solidFill>
                <a:latin typeface="Trebuchet MS" pitchFamily="34" charset="0"/>
              </a:rPr>
              <a:t>A given channel is active only in the particular zone in which the mobile is traveling and hence the base station radiation is </a:t>
            </a:r>
            <a:r>
              <a:rPr lang="en-US" sz="3000" dirty="0" err="1">
                <a:solidFill>
                  <a:srgbClr val="000000"/>
                </a:solidFill>
                <a:latin typeface="Trebuchet MS" pitchFamily="34" charset="0"/>
              </a:rPr>
              <a:t>localised</a:t>
            </a:r>
            <a:r>
              <a:rPr lang="en-US" sz="3000" dirty="0">
                <a:solidFill>
                  <a:srgbClr val="000000"/>
                </a:solidFill>
                <a:latin typeface="Trebuchet MS" pitchFamily="34" charset="0"/>
              </a:rPr>
              <a:t> and </a:t>
            </a:r>
            <a:r>
              <a:rPr lang="en-US" sz="3000" b="1" dirty="0">
                <a:solidFill>
                  <a:srgbClr val="000000"/>
                </a:solidFill>
                <a:latin typeface="Liberation Sans Narrow"/>
                <a:ea typeface="Liberation Sans Narrow"/>
                <a:cs typeface="Liberation Sans Narrow"/>
              </a:rPr>
              <a:t>interference is reduced</a:t>
            </a:r>
            <a:endParaRPr lang="en-US" sz="3000" dirty="0">
              <a:solidFill>
                <a:srgbClr val="000000"/>
              </a:solidFill>
              <a:latin typeface="Liberation Sans Narrow"/>
              <a:ea typeface="Liberation Sans Narrow"/>
              <a:cs typeface="Liberation Sans Narrow"/>
            </a:endParaRPr>
          </a:p>
          <a:p>
            <a:pPr marL="355600" indent="-344488">
              <a:lnSpc>
                <a:spcPct val="90000"/>
              </a:lnSpc>
              <a:spcBef>
                <a:spcPts val="725"/>
              </a:spcBef>
              <a:buFont typeface="Arial" pitchFamily="34" charset="0"/>
              <a:buChar char="•"/>
              <a:tabLst>
                <a:tab pos="355600" algn="l"/>
              </a:tabLst>
            </a:pPr>
            <a:r>
              <a:rPr lang="en-US" sz="3000" dirty="0">
                <a:solidFill>
                  <a:srgbClr val="000000"/>
                </a:solidFill>
                <a:latin typeface="Trebuchet MS" pitchFamily="34" charset="0"/>
              </a:rPr>
              <a:t>The </a:t>
            </a:r>
            <a:r>
              <a:rPr lang="en-US" sz="3000" b="1" dirty="0">
                <a:solidFill>
                  <a:srgbClr val="000000"/>
                </a:solidFill>
                <a:latin typeface="Liberation Sans Narrow"/>
                <a:ea typeface="Liberation Sans Narrow"/>
                <a:cs typeface="Liberation Sans Narrow"/>
              </a:rPr>
              <a:t>co-channel interference is also reduced </a:t>
            </a:r>
            <a:r>
              <a:rPr lang="en-US" sz="3000" dirty="0">
                <a:solidFill>
                  <a:srgbClr val="000000"/>
                </a:solidFill>
                <a:latin typeface="Trebuchet MS" pitchFamily="34" charset="0"/>
              </a:rPr>
              <a:t>as a large base station is replaced by several lower powered transmitters on the edges of the cell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  <a:defRPr/>
            </a:pPr>
            <a:fld id="{59FED7B1-2ABA-48C3-8F40-E63DA6038FC5}" type="slidenum">
              <a:rPr lang="en-IN" kern="0" spc="-25"/>
              <a:pPr marL="38100">
                <a:lnSpc>
                  <a:spcPts val="1240"/>
                </a:lnSpc>
                <a:defRPr/>
              </a:pPr>
              <a:t>103</a:t>
            </a:fld>
            <a:endParaRPr lang="en-IN" kern="0" spc="-25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object 2"/>
          <p:cNvSpPr>
            <a:spLocks noGrp="1"/>
          </p:cNvSpPr>
          <p:nvPr>
            <p:ph type="title"/>
          </p:nvPr>
        </p:nvSpPr>
        <p:spPr>
          <a:xfrm>
            <a:off x="1636714" y="119064"/>
            <a:ext cx="8650287" cy="985837"/>
          </a:xfrm>
        </p:spPr>
        <p:txBody>
          <a:bodyPr vert="horz" lIns="91440" tIns="215138" rIns="91440" bIns="45720" rtlCol="0" anchor="ctr">
            <a:normAutofit/>
          </a:bodyPr>
          <a:lstStyle/>
          <a:p>
            <a:pPr marL="3189288" indent="-2292350">
              <a:spcBef>
                <a:spcPts val="100"/>
              </a:spcBef>
            </a:pPr>
            <a:r>
              <a:rPr lang="en-US" sz="2500" dirty="0">
                <a:ea typeface="Liberation Sans Narrow"/>
              </a:rPr>
              <a:t>Techniques used to expand the capacity of Cellular 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0576" y="1536700"/>
            <a:ext cx="6670675" cy="4967288"/>
          </a:xfrm>
          <a:prstGeom prst="rect">
            <a:avLst/>
          </a:prstGeom>
        </p:spPr>
        <p:txBody>
          <a:bodyPr lIns="0" tIns="13970" rIns="0" bIns="0">
            <a:spAutoFit/>
          </a:bodyPr>
          <a:lstStyle/>
          <a:p>
            <a:pPr marL="527685" indent="-514984">
              <a:spcBef>
                <a:spcPts val="110"/>
              </a:spcBef>
              <a:buFontTx/>
              <a:buAutoNum type="arabicPeriod"/>
              <a:tabLst>
                <a:tab pos="527685" algn="l"/>
              </a:tabLst>
              <a:defRPr/>
            </a:pPr>
            <a:r>
              <a:rPr sz="2700" kern="0" spc="-114" dirty="0">
                <a:solidFill>
                  <a:sysClr val="windowText" lastClr="000000"/>
                </a:solidFill>
                <a:latin typeface="Trebuchet MS"/>
                <a:cs typeface="Trebuchet MS"/>
              </a:rPr>
              <a:t>Increasing</a:t>
            </a:r>
            <a:r>
              <a:rPr sz="2700" kern="0" spc="-204" dirty="0">
                <a:solidFill>
                  <a:sysClr val="windowText" lastClr="000000"/>
                </a:solidFill>
                <a:latin typeface="Trebuchet MS"/>
                <a:cs typeface="Trebuchet MS"/>
              </a:rPr>
              <a:t> </a:t>
            </a:r>
            <a:r>
              <a:rPr sz="2700" kern="0" spc="-130" dirty="0">
                <a:solidFill>
                  <a:sysClr val="windowText" lastClr="000000"/>
                </a:solidFill>
                <a:latin typeface="Trebuchet MS"/>
                <a:cs typeface="Trebuchet MS"/>
              </a:rPr>
              <a:t>the</a:t>
            </a:r>
            <a:r>
              <a:rPr sz="2700" kern="0" spc="-215" dirty="0">
                <a:solidFill>
                  <a:sysClr val="windowText" lastClr="000000"/>
                </a:solidFill>
                <a:latin typeface="Trebuchet MS"/>
                <a:cs typeface="Trebuchet MS"/>
              </a:rPr>
              <a:t> </a:t>
            </a:r>
            <a:r>
              <a:rPr sz="2700" kern="0" spc="-100" dirty="0">
                <a:solidFill>
                  <a:sysClr val="windowText" lastClr="000000"/>
                </a:solidFill>
                <a:latin typeface="Trebuchet MS"/>
                <a:cs typeface="Trebuchet MS"/>
              </a:rPr>
              <a:t>amount</a:t>
            </a:r>
            <a:r>
              <a:rPr sz="2700" kern="0" spc="-190" dirty="0">
                <a:solidFill>
                  <a:sysClr val="windowText" lastClr="000000"/>
                </a:solidFill>
                <a:latin typeface="Trebuchet MS"/>
                <a:cs typeface="Trebuchet MS"/>
              </a:rPr>
              <a:t> </a:t>
            </a:r>
            <a:r>
              <a:rPr sz="2700" kern="0" spc="-110" dirty="0">
                <a:solidFill>
                  <a:sysClr val="windowText" lastClr="000000"/>
                </a:solidFill>
                <a:latin typeface="Trebuchet MS"/>
                <a:cs typeface="Trebuchet MS"/>
              </a:rPr>
              <a:t>of</a:t>
            </a:r>
            <a:r>
              <a:rPr sz="2700" kern="0" spc="-190" dirty="0">
                <a:solidFill>
                  <a:sysClr val="windowText" lastClr="000000"/>
                </a:solidFill>
                <a:latin typeface="Trebuchet MS"/>
                <a:cs typeface="Trebuchet MS"/>
              </a:rPr>
              <a:t> </a:t>
            </a:r>
            <a:r>
              <a:rPr sz="2700" kern="0" spc="-114" dirty="0">
                <a:solidFill>
                  <a:sysClr val="windowText" lastClr="000000"/>
                </a:solidFill>
                <a:latin typeface="Trebuchet MS"/>
                <a:cs typeface="Trebuchet MS"/>
              </a:rPr>
              <a:t>spectrum</a:t>
            </a:r>
            <a:r>
              <a:rPr sz="2700" kern="0" spc="-215" dirty="0">
                <a:solidFill>
                  <a:sysClr val="windowText" lastClr="000000"/>
                </a:solidFill>
                <a:latin typeface="Trebuchet MS"/>
                <a:cs typeface="Trebuchet MS"/>
              </a:rPr>
              <a:t> </a:t>
            </a:r>
            <a:r>
              <a:rPr sz="2700" kern="0" spc="-20" dirty="0">
                <a:solidFill>
                  <a:sysClr val="windowText" lastClr="000000"/>
                </a:solidFill>
                <a:latin typeface="Trebuchet MS"/>
                <a:cs typeface="Trebuchet MS"/>
              </a:rPr>
              <a:t>used</a:t>
            </a:r>
            <a:endParaRPr sz="2700" kern="0" dirty="0">
              <a:solidFill>
                <a:sysClr val="windowText" lastClr="000000"/>
              </a:solidFill>
              <a:latin typeface="Trebuchet MS"/>
              <a:cs typeface="Trebuchet MS"/>
            </a:endParaRPr>
          </a:p>
          <a:p>
            <a:pPr marL="527685" indent="-514984">
              <a:spcBef>
                <a:spcPts val="5"/>
              </a:spcBef>
              <a:buFontTx/>
              <a:buAutoNum type="arabicPeriod"/>
              <a:tabLst>
                <a:tab pos="527685" algn="l"/>
              </a:tabLst>
              <a:defRPr/>
            </a:pPr>
            <a:r>
              <a:rPr sz="2700" kern="0" dirty="0">
                <a:solidFill>
                  <a:sysClr val="windowText" lastClr="000000"/>
                </a:solidFill>
                <a:latin typeface="Trebuchet MS"/>
                <a:cs typeface="Trebuchet MS"/>
              </a:rPr>
              <a:t>More</a:t>
            </a:r>
            <a:r>
              <a:rPr sz="2700" kern="0" spc="-185" dirty="0">
                <a:solidFill>
                  <a:sysClr val="windowText" lastClr="000000"/>
                </a:solidFill>
                <a:latin typeface="Trebuchet MS"/>
                <a:cs typeface="Trebuchet MS"/>
              </a:rPr>
              <a:t> </a:t>
            </a:r>
            <a:r>
              <a:rPr sz="2700" kern="0" spc="-175" dirty="0">
                <a:solidFill>
                  <a:sysClr val="windowText" lastClr="000000"/>
                </a:solidFill>
                <a:latin typeface="Trebuchet MS"/>
                <a:cs typeface="Trebuchet MS"/>
              </a:rPr>
              <a:t>efficient</a:t>
            </a:r>
            <a:r>
              <a:rPr sz="2700" kern="0" spc="-170" dirty="0">
                <a:solidFill>
                  <a:sysClr val="windowText" lastClr="000000"/>
                </a:solidFill>
                <a:latin typeface="Trebuchet MS"/>
                <a:cs typeface="Trebuchet MS"/>
              </a:rPr>
              <a:t> </a:t>
            </a:r>
            <a:r>
              <a:rPr sz="2700" kern="0" spc="-114" dirty="0">
                <a:solidFill>
                  <a:sysClr val="windowText" lastClr="000000"/>
                </a:solidFill>
                <a:latin typeface="Trebuchet MS"/>
                <a:cs typeface="Trebuchet MS"/>
              </a:rPr>
              <a:t>modulation</a:t>
            </a:r>
            <a:r>
              <a:rPr sz="2700" kern="0" spc="-210" dirty="0">
                <a:solidFill>
                  <a:sysClr val="windowText" lastClr="000000"/>
                </a:solidFill>
                <a:latin typeface="Trebuchet MS"/>
                <a:cs typeface="Trebuchet MS"/>
              </a:rPr>
              <a:t> </a:t>
            </a:r>
            <a:r>
              <a:rPr sz="2700" kern="0" spc="-125" dirty="0">
                <a:solidFill>
                  <a:sysClr val="windowText" lastClr="000000"/>
                </a:solidFill>
                <a:latin typeface="Trebuchet MS"/>
                <a:cs typeface="Trebuchet MS"/>
              </a:rPr>
              <a:t>formats</a:t>
            </a:r>
            <a:r>
              <a:rPr sz="2700" kern="0" spc="-175" dirty="0">
                <a:solidFill>
                  <a:sysClr val="windowText" lastClr="000000"/>
                </a:solidFill>
                <a:latin typeface="Trebuchet MS"/>
                <a:cs typeface="Trebuchet MS"/>
              </a:rPr>
              <a:t> </a:t>
            </a:r>
            <a:r>
              <a:rPr sz="2700" kern="0" spc="-85" dirty="0">
                <a:solidFill>
                  <a:sysClr val="windowText" lastClr="000000"/>
                </a:solidFill>
                <a:latin typeface="Trebuchet MS"/>
                <a:cs typeface="Trebuchet MS"/>
              </a:rPr>
              <a:t>&amp;</a:t>
            </a:r>
            <a:r>
              <a:rPr sz="2700" kern="0" spc="-150" dirty="0">
                <a:solidFill>
                  <a:sysClr val="windowText" lastClr="000000"/>
                </a:solidFill>
                <a:latin typeface="Trebuchet MS"/>
                <a:cs typeface="Trebuchet MS"/>
              </a:rPr>
              <a:t> </a:t>
            </a:r>
            <a:r>
              <a:rPr sz="2700" kern="0" spc="-40" dirty="0">
                <a:solidFill>
                  <a:sysClr val="windowText" lastClr="000000"/>
                </a:solidFill>
                <a:latin typeface="Trebuchet MS"/>
                <a:cs typeface="Trebuchet MS"/>
              </a:rPr>
              <a:t>coding</a:t>
            </a:r>
            <a:endParaRPr sz="2700" kern="0" dirty="0">
              <a:solidFill>
                <a:sysClr val="windowText" lastClr="000000"/>
              </a:solidFill>
              <a:latin typeface="Trebuchet MS"/>
              <a:cs typeface="Trebuchet MS"/>
            </a:endParaRPr>
          </a:p>
          <a:p>
            <a:pPr marL="527685" indent="-514984">
              <a:buFontTx/>
              <a:buAutoNum type="arabicPeriod"/>
              <a:tabLst>
                <a:tab pos="527685" algn="l"/>
              </a:tabLst>
              <a:defRPr/>
            </a:pPr>
            <a:r>
              <a:rPr sz="2700" kern="0" spc="-160" dirty="0">
                <a:solidFill>
                  <a:sysClr val="windowText" lastClr="000000"/>
                </a:solidFill>
                <a:latin typeface="Trebuchet MS"/>
                <a:cs typeface="Trebuchet MS"/>
              </a:rPr>
              <a:t>Better</a:t>
            </a:r>
            <a:r>
              <a:rPr sz="2700" kern="0" spc="-185" dirty="0">
                <a:solidFill>
                  <a:sysClr val="windowText" lastClr="000000"/>
                </a:solidFill>
                <a:latin typeface="Trebuchet MS"/>
                <a:cs typeface="Trebuchet MS"/>
              </a:rPr>
              <a:t> </a:t>
            </a:r>
            <a:r>
              <a:rPr sz="2700" kern="0" spc="-110" dirty="0">
                <a:solidFill>
                  <a:sysClr val="windowText" lastClr="000000"/>
                </a:solidFill>
                <a:latin typeface="Trebuchet MS"/>
                <a:cs typeface="Trebuchet MS"/>
              </a:rPr>
              <a:t>source</a:t>
            </a:r>
            <a:r>
              <a:rPr sz="2700" kern="0" spc="-195" dirty="0">
                <a:solidFill>
                  <a:sysClr val="windowText" lastClr="000000"/>
                </a:solidFill>
                <a:latin typeface="Trebuchet MS"/>
                <a:cs typeface="Trebuchet MS"/>
              </a:rPr>
              <a:t> </a:t>
            </a:r>
            <a:r>
              <a:rPr sz="2700" kern="0" spc="-10" dirty="0">
                <a:solidFill>
                  <a:sysClr val="windowText" lastClr="000000"/>
                </a:solidFill>
                <a:latin typeface="Trebuchet MS"/>
                <a:cs typeface="Trebuchet MS"/>
              </a:rPr>
              <a:t>coding</a:t>
            </a:r>
            <a:endParaRPr sz="2700" kern="0" dirty="0">
              <a:solidFill>
                <a:sysClr val="windowText" lastClr="000000"/>
              </a:solidFill>
              <a:latin typeface="Trebuchet MS"/>
              <a:cs typeface="Trebuchet MS"/>
            </a:endParaRPr>
          </a:p>
          <a:p>
            <a:pPr marL="527685" indent="-514984">
              <a:buFontTx/>
              <a:buAutoNum type="arabicPeriod"/>
              <a:tabLst>
                <a:tab pos="527685" algn="l"/>
              </a:tabLst>
              <a:defRPr/>
            </a:pPr>
            <a:r>
              <a:rPr sz="2700" kern="0" spc="-95" dirty="0">
                <a:solidFill>
                  <a:sysClr val="windowText" lastClr="000000"/>
                </a:solidFill>
                <a:latin typeface="Trebuchet MS"/>
                <a:cs typeface="Trebuchet MS"/>
              </a:rPr>
              <a:t>Discontinuous</a:t>
            </a:r>
            <a:r>
              <a:rPr sz="2700" kern="0" spc="-229" dirty="0">
                <a:solidFill>
                  <a:sysClr val="windowText" lastClr="000000"/>
                </a:solidFill>
                <a:latin typeface="Trebuchet MS"/>
                <a:cs typeface="Trebuchet MS"/>
              </a:rPr>
              <a:t> </a:t>
            </a:r>
            <a:r>
              <a:rPr sz="2700" kern="0" spc="-140" dirty="0">
                <a:solidFill>
                  <a:sysClr val="windowText" lastClr="000000"/>
                </a:solidFill>
                <a:latin typeface="Trebuchet MS"/>
                <a:cs typeface="Trebuchet MS"/>
              </a:rPr>
              <a:t>voice</a:t>
            </a:r>
            <a:r>
              <a:rPr sz="2700" kern="0" spc="-135" dirty="0">
                <a:solidFill>
                  <a:sysClr val="windowText" lastClr="000000"/>
                </a:solidFill>
                <a:latin typeface="Trebuchet MS"/>
                <a:cs typeface="Trebuchet MS"/>
              </a:rPr>
              <a:t> </a:t>
            </a:r>
            <a:r>
              <a:rPr sz="2700" kern="0" spc="-10" dirty="0">
                <a:solidFill>
                  <a:sysClr val="windowText" lastClr="000000"/>
                </a:solidFill>
                <a:latin typeface="Trebuchet MS"/>
                <a:cs typeface="Trebuchet MS"/>
              </a:rPr>
              <a:t>transmission</a:t>
            </a:r>
            <a:endParaRPr sz="2700" kern="0" dirty="0">
              <a:solidFill>
                <a:sysClr val="windowText" lastClr="000000"/>
              </a:solidFill>
              <a:latin typeface="Trebuchet MS"/>
              <a:cs typeface="Trebuchet MS"/>
            </a:endParaRPr>
          </a:p>
          <a:p>
            <a:pPr marL="527685" indent="-514984">
              <a:buFontTx/>
              <a:buAutoNum type="arabicPeriod"/>
              <a:tabLst>
                <a:tab pos="527685" algn="l"/>
              </a:tabLst>
              <a:defRPr/>
            </a:pPr>
            <a:r>
              <a:rPr sz="2700" kern="0" spc="-65" dirty="0">
                <a:solidFill>
                  <a:sysClr val="windowText" lastClr="000000"/>
                </a:solidFill>
                <a:latin typeface="Trebuchet MS"/>
                <a:cs typeface="Trebuchet MS"/>
              </a:rPr>
              <a:t>Multiuser</a:t>
            </a:r>
            <a:r>
              <a:rPr sz="2700" kern="0" spc="-200" dirty="0">
                <a:solidFill>
                  <a:sysClr val="windowText" lastClr="000000"/>
                </a:solidFill>
                <a:latin typeface="Trebuchet MS"/>
                <a:cs typeface="Trebuchet MS"/>
              </a:rPr>
              <a:t> </a:t>
            </a:r>
            <a:r>
              <a:rPr sz="2700" kern="0" spc="-25" dirty="0">
                <a:solidFill>
                  <a:sysClr val="windowText" lastClr="000000"/>
                </a:solidFill>
                <a:latin typeface="Trebuchet MS"/>
                <a:cs typeface="Trebuchet MS"/>
              </a:rPr>
              <a:t>detection</a:t>
            </a:r>
            <a:endParaRPr sz="2700" kern="0" dirty="0">
              <a:solidFill>
                <a:sysClr val="windowText" lastClr="000000"/>
              </a:solidFill>
              <a:latin typeface="Trebuchet MS"/>
              <a:cs typeface="Trebuchet MS"/>
            </a:endParaRPr>
          </a:p>
          <a:p>
            <a:pPr marL="527685" indent="-514984">
              <a:spcBef>
                <a:spcPts val="5"/>
              </a:spcBef>
              <a:buFontTx/>
              <a:buAutoNum type="arabicPeriod"/>
              <a:tabLst>
                <a:tab pos="527685" algn="l"/>
              </a:tabLst>
              <a:defRPr/>
            </a:pPr>
            <a:r>
              <a:rPr sz="2700" kern="0" spc="-130" dirty="0">
                <a:solidFill>
                  <a:sysClr val="windowText" lastClr="000000"/>
                </a:solidFill>
                <a:latin typeface="Trebuchet MS"/>
                <a:cs typeface="Trebuchet MS"/>
              </a:rPr>
              <a:t>Adaptive</a:t>
            </a:r>
            <a:r>
              <a:rPr sz="2700" kern="0" spc="-165" dirty="0">
                <a:solidFill>
                  <a:sysClr val="windowText" lastClr="000000"/>
                </a:solidFill>
                <a:latin typeface="Trebuchet MS"/>
                <a:cs typeface="Trebuchet MS"/>
              </a:rPr>
              <a:t> </a:t>
            </a:r>
            <a:r>
              <a:rPr sz="2700" kern="0" spc="-114" dirty="0">
                <a:solidFill>
                  <a:sysClr val="windowText" lastClr="000000"/>
                </a:solidFill>
                <a:latin typeface="Trebuchet MS"/>
                <a:cs typeface="Trebuchet MS"/>
              </a:rPr>
              <a:t>modulation</a:t>
            </a:r>
            <a:r>
              <a:rPr sz="2700" kern="0" spc="-220" dirty="0">
                <a:solidFill>
                  <a:sysClr val="windowText" lastClr="000000"/>
                </a:solidFill>
                <a:latin typeface="Trebuchet MS"/>
                <a:cs typeface="Trebuchet MS"/>
              </a:rPr>
              <a:t> </a:t>
            </a:r>
            <a:r>
              <a:rPr sz="2700" kern="0" spc="-100" dirty="0">
                <a:solidFill>
                  <a:sysClr val="windowText" lastClr="000000"/>
                </a:solidFill>
                <a:latin typeface="Trebuchet MS"/>
                <a:cs typeface="Trebuchet MS"/>
              </a:rPr>
              <a:t>and</a:t>
            </a:r>
            <a:r>
              <a:rPr sz="2700" kern="0" spc="-170" dirty="0">
                <a:solidFill>
                  <a:sysClr val="windowText" lastClr="000000"/>
                </a:solidFill>
                <a:latin typeface="Trebuchet MS"/>
                <a:cs typeface="Trebuchet MS"/>
              </a:rPr>
              <a:t> </a:t>
            </a:r>
            <a:r>
              <a:rPr sz="2700" kern="0" spc="-10" dirty="0">
                <a:solidFill>
                  <a:sysClr val="windowText" lastClr="000000"/>
                </a:solidFill>
                <a:latin typeface="Trebuchet MS"/>
                <a:cs typeface="Trebuchet MS"/>
              </a:rPr>
              <a:t>coding</a:t>
            </a:r>
            <a:endParaRPr sz="2700" kern="0" dirty="0">
              <a:solidFill>
                <a:sysClr val="windowText" lastClr="000000"/>
              </a:solidFill>
              <a:latin typeface="Trebuchet MS"/>
              <a:cs typeface="Trebuchet MS"/>
            </a:endParaRPr>
          </a:p>
          <a:p>
            <a:pPr marL="527685" indent="-514984">
              <a:buFontTx/>
              <a:buAutoNum type="arabicPeriod"/>
              <a:tabLst>
                <a:tab pos="527685" algn="l"/>
              </a:tabLst>
              <a:defRPr/>
            </a:pPr>
            <a:r>
              <a:rPr sz="2700" kern="0" spc="-130" dirty="0">
                <a:solidFill>
                  <a:sysClr val="windowText" lastClr="000000"/>
                </a:solidFill>
                <a:latin typeface="Trebuchet MS"/>
                <a:cs typeface="Trebuchet MS"/>
              </a:rPr>
              <a:t>Reduction</a:t>
            </a:r>
            <a:r>
              <a:rPr sz="2700" kern="0" spc="-229" dirty="0">
                <a:solidFill>
                  <a:sysClr val="windowText" lastClr="000000"/>
                </a:solidFill>
                <a:latin typeface="Trebuchet MS"/>
                <a:cs typeface="Trebuchet MS"/>
              </a:rPr>
              <a:t> </a:t>
            </a:r>
            <a:r>
              <a:rPr sz="2700" kern="0" spc="-110" dirty="0">
                <a:solidFill>
                  <a:sysClr val="windowText" lastClr="000000"/>
                </a:solidFill>
                <a:latin typeface="Trebuchet MS"/>
                <a:cs typeface="Trebuchet MS"/>
              </a:rPr>
              <a:t>of</a:t>
            </a:r>
            <a:r>
              <a:rPr sz="2700" kern="0" spc="-185" dirty="0">
                <a:solidFill>
                  <a:sysClr val="windowText" lastClr="000000"/>
                </a:solidFill>
                <a:latin typeface="Trebuchet MS"/>
                <a:cs typeface="Trebuchet MS"/>
              </a:rPr>
              <a:t> cell</a:t>
            </a:r>
            <a:r>
              <a:rPr sz="2700" kern="0" spc="-165" dirty="0">
                <a:solidFill>
                  <a:sysClr val="windowText" lastClr="000000"/>
                </a:solidFill>
                <a:latin typeface="Trebuchet MS"/>
                <a:cs typeface="Trebuchet MS"/>
              </a:rPr>
              <a:t> </a:t>
            </a:r>
            <a:r>
              <a:rPr sz="2700" kern="0" spc="-10" dirty="0">
                <a:solidFill>
                  <a:sysClr val="windowText" lastClr="000000"/>
                </a:solidFill>
                <a:latin typeface="Trebuchet MS"/>
                <a:cs typeface="Trebuchet MS"/>
              </a:rPr>
              <a:t>radius</a:t>
            </a:r>
            <a:endParaRPr sz="2700" kern="0" dirty="0">
              <a:solidFill>
                <a:sysClr val="windowText" lastClr="000000"/>
              </a:solidFill>
              <a:latin typeface="Trebuchet MS"/>
              <a:cs typeface="Trebuchet MS"/>
            </a:endParaRPr>
          </a:p>
          <a:p>
            <a:pPr marL="527685" indent="-514984">
              <a:buFontTx/>
              <a:buAutoNum type="arabicPeriod"/>
              <a:tabLst>
                <a:tab pos="527685" algn="l"/>
              </a:tabLst>
              <a:defRPr/>
            </a:pPr>
            <a:r>
              <a:rPr sz="2700" kern="0" spc="-65" dirty="0">
                <a:solidFill>
                  <a:sysClr val="windowText" lastClr="000000"/>
                </a:solidFill>
                <a:latin typeface="Trebuchet MS"/>
                <a:cs typeface="Trebuchet MS"/>
              </a:rPr>
              <a:t>Use</a:t>
            </a:r>
            <a:r>
              <a:rPr sz="2700" kern="0" spc="-229" dirty="0">
                <a:solidFill>
                  <a:sysClr val="windowText" lastClr="000000"/>
                </a:solidFill>
                <a:latin typeface="Trebuchet MS"/>
                <a:cs typeface="Trebuchet MS"/>
              </a:rPr>
              <a:t> </a:t>
            </a:r>
            <a:r>
              <a:rPr sz="2700" kern="0" spc="-110" dirty="0">
                <a:solidFill>
                  <a:sysClr val="windowText" lastClr="000000"/>
                </a:solidFill>
                <a:latin typeface="Trebuchet MS"/>
                <a:cs typeface="Trebuchet MS"/>
              </a:rPr>
              <a:t>of</a:t>
            </a:r>
            <a:r>
              <a:rPr sz="2700" kern="0" spc="-175" dirty="0">
                <a:solidFill>
                  <a:sysClr val="windowText" lastClr="000000"/>
                </a:solidFill>
                <a:latin typeface="Trebuchet MS"/>
                <a:cs typeface="Trebuchet MS"/>
              </a:rPr>
              <a:t> </a:t>
            </a:r>
            <a:r>
              <a:rPr sz="2700" kern="0" spc="-120" dirty="0">
                <a:solidFill>
                  <a:sysClr val="windowText" lastClr="000000"/>
                </a:solidFill>
                <a:latin typeface="Trebuchet MS"/>
                <a:cs typeface="Trebuchet MS"/>
              </a:rPr>
              <a:t>sector</a:t>
            </a:r>
            <a:r>
              <a:rPr sz="2700" kern="0" spc="-245" dirty="0">
                <a:solidFill>
                  <a:sysClr val="windowText" lastClr="000000"/>
                </a:solidFill>
                <a:latin typeface="Trebuchet MS"/>
                <a:cs typeface="Trebuchet MS"/>
              </a:rPr>
              <a:t> </a:t>
            </a:r>
            <a:r>
              <a:rPr sz="2700" kern="0" spc="-10" dirty="0">
                <a:solidFill>
                  <a:sysClr val="windowText" lastClr="000000"/>
                </a:solidFill>
                <a:latin typeface="Trebuchet MS"/>
                <a:cs typeface="Trebuchet MS"/>
              </a:rPr>
              <a:t>cells</a:t>
            </a:r>
            <a:endParaRPr sz="2700" kern="0" dirty="0">
              <a:solidFill>
                <a:sysClr val="windowText" lastClr="000000"/>
              </a:solidFill>
              <a:latin typeface="Trebuchet MS"/>
              <a:cs typeface="Trebuchet MS"/>
            </a:endParaRPr>
          </a:p>
          <a:p>
            <a:pPr marL="527685" indent="-514984">
              <a:spcBef>
                <a:spcPts val="5"/>
              </a:spcBef>
              <a:buFontTx/>
              <a:buAutoNum type="arabicPeriod"/>
              <a:tabLst>
                <a:tab pos="527685" algn="l"/>
              </a:tabLst>
              <a:defRPr/>
            </a:pPr>
            <a:r>
              <a:rPr sz="2700" kern="0" spc="-65" dirty="0">
                <a:solidFill>
                  <a:sysClr val="windowText" lastClr="000000"/>
                </a:solidFill>
                <a:latin typeface="Trebuchet MS"/>
                <a:cs typeface="Trebuchet MS"/>
              </a:rPr>
              <a:t>Use</a:t>
            </a:r>
            <a:r>
              <a:rPr sz="2700" kern="0" spc="-229" dirty="0">
                <a:solidFill>
                  <a:sysClr val="windowText" lastClr="000000"/>
                </a:solidFill>
                <a:latin typeface="Trebuchet MS"/>
                <a:cs typeface="Trebuchet MS"/>
              </a:rPr>
              <a:t> </a:t>
            </a:r>
            <a:r>
              <a:rPr sz="2700" kern="0" spc="-110" dirty="0">
                <a:solidFill>
                  <a:sysClr val="windowText" lastClr="000000"/>
                </a:solidFill>
                <a:latin typeface="Trebuchet MS"/>
                <a:cs typeface="Trebuchet MS"/>
              </a:rPr>
              <a:t>of</a:t>
            </a:r>
            <a:r>
              <a:rPr sz="2700" kern="0" spc="-180" dirty="0">
                <a:solidFill>
                  <a:sysClr val="windowText" lastClr="000000"/>
                </a:solidFill>
                <a:latin typeface="Trebuchet MS"/>
                <a:cs typeface="Trebuchet MS"/>
              </a:rPr>
              <a:t> </a:t>
            </a:r>
            <a:r>
              <a:rPr sz="2700" kern="0" spc="-95" dirty="0">
                <a:solidFill>
                  <a:sysClr val="windowText" lastClr="000000"/>
                </a:solidFill>
                <a:latin typeface="Trebuchet MS"/>
                <a:cs typeface="Trebuchet MS"/>
              </a:rPr>
              <a:t>an</a:t>
            </a:r>
            <a:r>
              <a:rPr sz="2700" kern="0" spc="-204" dirty="0">
                <a:solidFill>
                  <a:sysClr val="windowText" lastClr="000000"/>
                </a:solidFill>
                <a:latin typeface="Trebuchet MS"/>
                <a:cs typeface="Trebuchet MS"/>
              </a:rPr>
              <a:t> </a:t>
            </a:r>
            <a:r>
              <a:rPr sz="2700" kern="0" spc="-140" dirty="0">
                <a:solidFill>
                  <a:sysClr val="windowText" lastClr="000000"/>
                </a:solidFill>
                <a:latin typeface="Trebuchet MS"/>
                <a:cs typeface="Trebuchet MS"/>
              </a:rPr>
              <a:t>overlay</a:t>
            </a:r>
            <a:r>
              <a:rPr sz="2700" kern="0" spc="-220" dirty="0">
                <a:solidFill>
                  <a:sysClr val="windowText" lastClr="000000"/>
                </a:solidFill>
                <a:latin typeface="Trebuchet MS"/>
                <a:cs typeface="Trebuchet MS"/>
              </a:rPr>
              <a:t> </a:t>
            </a:r>
            <a:r>
              <a:rPr sz="2700" kern="0" spc="-10" dirty="0">
                <a:solidFill>
                  <a:sysClr val="windowText" lastClr="000000"/>
                </a:solidFill>
                <a:latin typeface="Trebuchet MS"/>
                <a:cs typeface="Trebuchet MS"/>
              </a:rPr>
              <a:t>structure</a:t>
            </a:r>
            <a:endParaRPr sz="2700" kern="0" dirty="0">
              <a:solidFill>
                <a:sysClr val="windowText" lastClr="000000"/>
              </a:solidFill>
              <a:latin typeface="Trebuchet MS"/>
              <a:cs typeface="Trebuchet MS"/>
            </a:endParaRPr>
          </a:p>
          <a:p>
            <a:pPr marL="526415" indent="-513715">
              <a:buFontTx/>
              <a:buAutoNum type="arabicPeriod"/>
              <a:tabLst>
                <a:tab pos="526415" algn="l"/>
              </a:tabLst>
              <a:defRPr/>
            </a:pPr>
            <a:r>
              <a:rPr sz="2700" kern="0" spc="-80" dirty="0">
                <a:solidFill>
                  <a:sysClr val="windowText" lastClr="000000"/>
                </a:solidFill>
                <a:latin typeface="Trebuchet MS"/>
                <a:cs typeface="Trebuchet MS"/>
              </a:rPr>
              <a:t>Multiple</a:t>
            </a:r>
            <a:r>
              <a:rPr sz="2700" kern="0" spc="-180" dirty="0">
                <a:solidFill>
                  <a:sysClr val="windowText" lastClr="000000"/>
                </a:solidFill>
                <a:latin typeface="Trebuchet MS"/>
                <a:cs typeface="Trebuchet MS"/>
              </a:rPr>
              <a:t> </a:t>
            </a:r>
            <a:r>
              <a:rPr sz="2700" kern="0" spc="-10" dirty="0">
                <a:solidFill>
                  <a:sysClr val="windowText" lastClr="000000"/>
                </a:solidFill>
                <a:latin typeface="Trebuchet MS"/>
                <a:cs typeface="Trebuchet MS"/>
              </a:rPr>
              <a:t>antennas</a:t>
            </a:r>
            <a:endParaRPr sz="2700" kern="0" dirty="0">
              <a:solidFill>
                <a:sysClr val="windowText" lastClr="000000"/>
              </a:solidFill>
              <a:latin typeface="Trebuchet MS"/>
              <a:cs typeface="Trebuchet MS"/>
            </a:endParaRPr>
          </a:p>
          <a:p>
            <a:pPr marL="526415" indent="-513715">
              <a:buFontTx/>
              <a:buAutoNum type="arabicPeriod"/>
              <a:tabLst>
                <a:tab pos="526415" algn="l"/>
              </a:tabLst>
              <a:defRPr/>
            </a:pPr>
            <a:r>
              <a:rPr sz="2700" kern="0" spc="-145" dirty="0">
                <a:solidFill>
                  <a:sysClr val="windowText" lastClr="000000"/>
                </a:solidFill>
                <a:latin typeface="Trebuchet MS"/>
                <a:cs typeface="Trebuchet MS"/>
              </a:rPr>
              <a:t>Fractional</a:t>
            </a:r>
            <a:r>
              <a:rPr sz="2700" kern="0" spc="-235" dirty="0">
                <a:solidFill>
                  <a:sysClr val="windowText" lastClr="000000"/>
                </a:solidFill>
                <a:latin typeface="Trebuchet MS"/>
                <a:cs typeface="Trebuchet MS"/>
              </a:rPr>
              <a:t> </a:t>
            </a:r>
            <a:r>
              <a:rPr sz="2700" kern="0" spc="-10" dirty="0">
                <a:solidFill>
                  <a:sysClr val="windowText" lastClr="000000"/>
                </a:solidFill>
                <a:latin typeface="Trebuchet MS"/>
                <a:cs typeface="Trebuchet MS"/>
              </a:rPr>
              <a:t>loading</a:t>
            </a:r>
            <a:endParaRPr sz="2700" kern="0" dirty="0">
              <a:solidFill>
                <a:sysClr val="windowText" lastClr="000000"/>
              </a:solidFill>
              <a:latin typeface="Trebuchet MS"/>
              <a:cs typeface="Trebuchet MS"/>
            </a:endParaRPr>
          </a:p>
          <a:p>
            <a:pPr marL="527050" indent="-514350">
              <a:spcBef>
                <a:spcPts val="5"/>
              </a:spcBef>
              <a:buFontTx/>
              <a:buAutoNum type="arabicPeriod"/>
              <a:tabLst>
                <a:tab pos="527050" algn="l"/>
              </a:tabLst>
              <a:defRPr/>
            </a:pPr>
            <a:r>
              <a:rPr sz="2700" kern="0" spc="-160" dirty="0">
                <a:solidFill>
                  <a:sysClr val="windowText" lastClr="000000"/>
                </a:solidFill>
                <a:latin typeface="Trebuchet MS"/>
                <a:cs typeface="Trebuchet MS"/>
              </a:rPr>
              <a:t>Partial </a:t>
            </a:r>
            <a:r>
              <a:rPr sz="2700" kern="0" spc="-135" dirty="0">
                <a:solidFill>
                  <a:sysClr val="windowText" lastClr="000000"/>
                </a:solidFill>
                <a:latin typeface="Trebuchet MS"/>
                <a:cs typeface="Trebuchet MS"/>
              </a:rPr>
              <a:t>frequency</a:t>
            </a:r>
            <a:r>
              <a:rPr sz="2700" kern="0" spc="-170" dirty="0">
                <a:solidFill>
                  <a:sysClr val="windowText" lastClr="000000"/>
                </a:solidFill>
                <a:latin typeface="Trebuchet MS"/>
                <a:cs typeface="Trebuchet MS"/>
              </a:rPr>
              <a:t> </a:t>
            </a:r>
            <a:r>
              <a:rPr sz="2700" kern="0" spc="-10" dirty="0">
                <a:solidFill>
                  <a:sysClr val="windowText" lastClr="000000"/>
                </a:solidFill>
                <a:latin typeface="Trebuchet MS"/>
                <a:cs typeface="Trebuchet MS"/>
              </a:rPr>
              <a:t>reuse</a:t>
            </a:r>
            <a:endParaRPr sz="2700" kern="0" dirty="0">
              <a:solidFill>
                <a:sysClr val="windowText" lastClr="000000"/>
              </a:solidFill>
              <a:latin typeface="Trebuchet MS"/>
              <a:cs typeface="Trebuchet M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  <a:defRPr/>
            </a:pPr>
            <a:fld id="{BF1FBBF8-773D-4E82-B309-AA460F11E3AD}" type="slidenum">
              <a:rPr lang="en-IN" kern="0" spc="-25"/>
              <a:pPr marL="38100">
                <a:lnSpc>
                  <a:spcPts val="1240"/>
                </a:lnSpc>
                <a:defRPr/>
              </a:pPr>
              <a:t>104</a:t>
            </a:fld>
            <a:endParaRPr lang="en-IN" kern="0" spc="-25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649</Words>
  <Application>Microsoft Office PowerPoint</Application>
  <PresentationFormat>Widescreen</PresentationFormat>
  <Paragraphs>70</Paragraphs>
  <Slides>104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104</vt:i4>
      </vt:variant>
    </vt:vector>
  </HeadingPairs>
  <TitlesOfParts>
    <vt:vector size="112" baseType="lpstr">
      <vt:lpstr>Arial</vt:lpstr>
      <vt:lpstr>Calibri</vt:lpstr>
      <vt:lpstr>Calibri Light</vt:lpstr>
      <vt:lpstr>Georgia</vt:lpstr>
      <vt:lpstr>Liberation Sans Narrow</vt:lpstr>
      <vt:lpstr>Times New Roman</vt:lpstr>
      <vt:lpstr>Trebuchet MS</vt:lpstr>
      <vt:lpstr>Office Theme</vt:lpstr>
      <vt:lpstr>Unit 2 Cellular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Cellular concept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Coverage &amp; Capacity Improvement</vt:lpstr>
      <vt:lpstr>1.CELL SPLITTING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Cell Splitting Drawbacks</vt:lpstr>
      <vt:lpstr>2.Sectoring</vt:lpstr>
      <vt:lpstr>Sectoring improves S/I</vt:lpstr>
      <vt:lpstr>PowerPoint Presentation</vt:lpstr>
      <vt:lpstr>PowerPoint Presentation</vt:lpstr>
      <vt:lpstr>PowerPoint Presentation</vt:lpstr>
      <vt:lpstr>1200 Sectoring</vt:lpstr>
      <vt:lpstr>600 Sectoring</vt:lpstr>
      <vt:lpstr>PowerPoint Presentation</vt:lpstr>
      <vt:lpstr>Disadvantages:</vt:lpstr>
      <vt:lpstr>PowerPoint Presentation</vt:lpstr>
      <vt:lpstr>PowerPoint Presentation</vt:lpstr>
      <vt:lpstr>ADVANTAGES OVER SECTORING</vt:lpstr>
      <vt:lpstr>Techniques used to expand the capacity of Cellular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ECE GCEB</dc:creator>
  <cp:lastModifiedBy>ECE GCEB</cp:lastModifiedBy>
  <cp:revision>14</cp:revision>
  <dcterms:created xsi:type="dcterms:W3CDTF">2025-07-23T07:29:18Z</dcterms:created>
  <dcterms:modified xsi:type="dcterms:W3CDTF">2025-08-19T10:25:05Z</dcterms:modified>
</cp:coreProperties>
</file>